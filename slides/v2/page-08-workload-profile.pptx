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000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Agent工作负载画像</a:t>
            </a:r>
            <a:pPr indent="0" marL="0">
              <a:buNone/>
            </a:pPr>
            <a:r>
              <a:rPr lang="en-US" sz="1400" b="1" dirty="0">
                <a:solidFill>
                  <a:srgbClr val="5E5E5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—— 对计算架构的系统性需求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94360" y="667512"/>
            <a:ext cx="731520" cy="2286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7863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C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工作负载特征对比矩阵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97280"/>
          <a:ext cx="676656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234440"/>
                <a:gridCol w="1783080"/>
                <a:gridCol w="269748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维度</a:t>
                      </a:r>
                      <a:endParaRPr lang="en-US" sz="8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传统推理</a:t>
                      </a:r>
                      <a:endParaRPr lang="en-US" sz="8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Agent推理</a:t>
                      </a:r>
                      <a:endParaRPr lang="en-US" sz="8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计算系统影响</a:t>
                      </a:r>
                      <a:endParaRPr lang="en-US" sz="8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C1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Token消耗</a:t>
                      </a:r>
                      <a:endParaRPr lang="en-US" sz="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C1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1x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9A000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4-15x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C1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推理吞吐需求数量级提升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C1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延迟模式</a:t>
                      </a:r>
                      <a:endParaRPr lang="en-US" sz="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C1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吞吐优先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9A000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P95/P99延迟关键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C1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调度策略 batch-max → latency-aware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C1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CPU角色</a:t>
                      </a:r>
                      <a:endParaRPr lang="en-US" sz="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C1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控制平面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9A000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活跃计算层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C1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CPU单线程性能 = Agent效能天花板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C1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资源模式</a:t>
                      </a:r>
                      <a:endParaRPr lang="en-US" sz="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C1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同构GPU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9A000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异构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C1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按phase独立池化 + 自动扩缩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C1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KV Cache</a:t>
                      </a:r>
                      <a:endParaRPr lang="en-US" sz="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C1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按请求分配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9A000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跨轮复用 (5→50%)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C1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多层级存储 HBM→SSD→网络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C1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调度信息</a:t>
                      </a:r>
                      <a:endParaRPr lang="en-US" sz="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C1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无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9A000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上下文hints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C1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Dynamo: latency_sensitivity / priority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C1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故障模式</a:t>
                      </a:r>
                      <a:endParaRPr lang="en-US" sz="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C1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超时/OOM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9A000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KV损坏/重试风暴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C1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需要分布式可观测体系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39496" y="1042416"/>
            <a:ext cx="137160" cy="1371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7" name="Shape 4"/>
          <p:cNvSpPr/>
          <p:nvPr/>
        </p:nvSpPr>
        <p:spPr>
          <a:xfrm>
            <a:off x="539496" y="1042416"/>
            <a:ext cx="13716" cy="13716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8" name="Shape 5"/>
          <p:cNvSpPr/>
          <p:nvPr/>
        </p:nvSpPr>
        <p:spPr>
          <a:xfrm>
            <a:off x="7278624" y="3698748"/>
            <a:ext cx="137160" cy="1371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9" name="Shape 6"/>
          <p:cNvSpPr/>
          <p:nvPr/>
        </p:nvSpPr>
        <p:spPr>
          <a:xfrm>
            <a:off x="7402068" y="3575304"/>
            <a:ext cx="13716" cy="13716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10" name="Text 7"/>
          <p:cNvSpPr/>
          <p:nvPr/>
        </p:nvSpPr>
        <p:spPr>
          <a:xfrm>
            <a:off x="7589520" y="7863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C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Token经济学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509760" y="822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(NVIDIA S81996)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7589520" y="1097280"/>
            <a:ext cx="4005072" cy="34747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Shape 10"/>
          <p:cNvSpPr/>
          <p:nvPr/>
        </p:nvSpPr>
        <p:spPr>
          <a:xfrm>
            <a:off x="7589520" y="1097280"/>
            <a:ext cx="22860" cy="347472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14" name="Text 11"/>
          <p:cNvSpPr/>
          <p:nvPr/>
        </p:nvSpPr>
        <p:spPr>
          <a:xfrm>
            <a:off x="7699248" y="109728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per 1M tokens = (CapEx + OpEx) / (TPS/GPU × 3600)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7589520" y="1554480"/>
            <a:ext cx="4005072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7589520" y="1554480"/>
            <a:ext cx="137160" cy="1371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17" name="Shape 14"/>
          <p:cNvSpPr/>
          <p:nvPr/>
        </p:nvSpPr>
        <p:spPr>
          <a:xfrm>
            <a:off x="7589520" y="1554480"/>
            <a:ext cx="13716" cy="13716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18" name="Shape 15"/>
          <p:cNvSpPr/>
          <p:nvPr/>
        </p:nvSpPr>
        <p:spPr>
          <a:xfrm>
            <a:off x="11457432" y="2180844"/>
            <a:ext cx="137160" cy="1371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19" name="Shape 16"/>
          <p:cNvSpPr/>
          <p:nvPr/>
        </p:nvSpPr>
        <p:spPr>
          <a:xfrm>
            <a:off x="11580876" y="2057400"/>
            <a:ext cx="13716" cy="13716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20" name="Text 17"/>
          <p:cNvSpPr/>
          <p:nvPr/>
        </p:nvSpPr>
        <p:spPr>
          <a:xfrm>
            <a:off x="7680960" y="1591056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per GW
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A1C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Blackwell $30B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A1C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Rubin $150B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9A000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VR+LPX $300B</a:t>
            </a:r>
            <a:pPr indent="0" marL="0">
              <a:lnSpc>
                <a:spcPct val="125000"/>
              </a:lnSpc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9A000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10x跨度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Premium tier (400 TPS/user) 开启全新服务层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589520" y="233172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C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KV Cache经济学</a:t>
            </a:r>
            <a:pPr indent="0" marL="0">
              <a:buNone/>
            </a:pPr>
            <a:r>
              <a:rPr lang="en-US" sz="75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(Nebius S82234)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589520" y="2624328"/>
            <a:ext cx="1005840" cy="530352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3" name="Text 20"/>
          <p:cNvSpPr/>
          <p:nvPr/>
        </p:nvSpPr>
        <p:spPr>
          <a:xfrm>
            <a:off x="7589520" y="26426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C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5%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589520" y="29169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起步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8558784" y="2642616"/>
            <a:ext cx="21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732520" y="2624328"/>
            <a:ext cx="1280160" cy="5303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7" name="Text 24"/>
          <p:cNvSpPr/>
          <p:nvPr/>
        </p:nvSpPr>
        <p:spPr>
          <a:xfrm>
            <a:off x="8732520" y="26426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C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30%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732520" y="29169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路由优化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9976104" y="2642616"/>
            <a:ext cx="21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0149840" y="2624328"/>
            <a:ext cx="1371600" cy="53035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1" name="Text 28"/>
          <p:cNvSpPr/>
          <p:nvPr/>
        </p:nvSpPr>
        <p:spPr>
          <a:xfrm>
            <a:off x="10149840" y="26426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000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50%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0149840" y="29169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定制调优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7589520" y="3191256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每级提升 = GPU成本</a:t>
            </a:r>
            <a:pPr indent="0" marL="0">
              <a:buNone/>
            </a:pPr>
            <a:r>
              <a:rPr lang="en-US" sz="850" b="1" dirty="0">
                <a:solidFill>
                  <a:srgbClr val="9A000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数倍降低</a:t>
            </a:r>
            <a:endParaRPr lang="en-US" sz="850" dirty="0"/>
          </a:p>
        </p:txBody>
      </p:sp>
      <p:pic>
        <p:nvPicPr>
          <p:cNvPr id="34" name="Image 0" descr="/Users/eason/Documents/HW-Project/Conference/gtc-2026-materials/generated/slide-presentation/image/s82168/token-throughput-per-GPU-vs-interactiv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4553712"/>
            <a:ext cx="5362956" cy="105156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94360" y="5623560"/>
            <a:ext cx="53629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吞吐-交互性Pareto曲线 (S82168)</a:t>
            </a:r>
            <a:endParaRPr lang="en-US" sz="650" dirty="0"/>
          </a:p>
        </p:txBody>
      </p:sp>
      <p:pic>
        <p:nvPicPr>
          <p:cNvPr id="36" name="Image 1" descr="/Users/eason/Documents/HW-Project/Conference/gtc-2026-materials/generated/slide-presentation/image/s81996/nvidia-vera-rubin-lpx-expands-revenue-opportunity-10x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31636" y="4553712"/>
            <a:ext cx="5362956" cy="105156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231636" y="5623560"/>
            <a:ext cx="53629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per GW: Blackwell → Rubin → VR+LPX 10x (S81996)</a:t>
            </a:r>
            <a:endParaRPr lang="en-US" sz="650" dirty="0"/>
          </a:p>
        </p:txBody>
      </p:sp>
      <p:sp>
        <p:nvSpPr>
          <p:cNvPr id="38" name="Shape 33"/>
          <p:cNvSpPr/>
          <p:nvPr/>
        </p:nvSpPr>
        <p:spPr>
          <a:xfrm>
            <a:off x="0" y="5925312"/>
            <a:ext cx="12188952" cy="457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9" name="Shape 34"/>
          <p:cNvSpPr/>
          <p:nvPr/>
        </p:nvSpPr>
        <p:spPr>
          <a:xfrm>
            <a:off x="0" y="5925312"/>
            <a:ext cx="347472" cy="45720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40" name="Text 35"/>
          <p:cNvSpPr/>
          <p:nvPr/>
        </p:nvSpPr>
        <p:spPr>
          <a:xfrm>
            <a:off x="0" y="5925312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启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示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576072" y="5925312"/>
            <a:ext cx="11384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Agent推理7维全面异于传统推理 — </a:t>
            </a:r>
            <a:pPr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延迟敏感 + 异构资源 + KV跨轮复用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重塑计算架构  |  Revenue per GW </a:t>
            </a:r>
            <a:pPr indent="0" marL="0">
              <a:buNone/>
            </a:pPr>
            <a:r>
              <a:rPr lang="en-US" sz="850" b="1" dirty="0">
                <a:solidFill>
                  <a:srgbClr val="9A00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10x跨度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验证Agent推理经济性  |  KV Cache命中率5%→50% = </a:t>
            </a:r>
            <a:pPr indent="0" marL="0">
              <a:buNone/>
            </a:pPr>
            <a:r>
              <a:rPr lang="en-US" sz="850" b="1" dirty="0">
                <a:solidFill>
                  <a:srgbClr val="9A00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GPU成本倍数级降低</a:t>
            </a:r>
            <a:endParaRPr lang="en-US" sz="850" dirty="0"/>
          </a:p>
        </p:txBody>
      </p:sp>
      <p:sp>
        <p:nvSpPr>
          <p:cNvPr id="42" name="Text 37"/>
          <p:cNvSpPr/>
          <p:nvPr/>
        </p:nvSpPr>
        <p:spPr>
          <a:xfrm>
            <a:off x="365760" y="6382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贡献人: Eason Zhao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3200400" y="6382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来源: S81996, S82168, S82234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10817352" y="63825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C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HUAWEI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2026-03-26T03:56:51Z</dcterms:created>
  <dcterms:modified xsi:type="dcterms:W3CDTF">2026-03-26T03:56:51Z</dcterms:modified>
</cp:coreProperties>
</file>