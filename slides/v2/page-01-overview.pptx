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9.xml" ContentType="application/vnd.openxmlformats-officedocument.presentationml.slideLayout+xml"/>
  <Override PartName="/ppt/theme/theme10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1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65" r:id="rId2"/>
    <p:sldMasterId id="2147483671" r:id="rId3"/>
    <p:sldMasterId id="2147483682" r:id="rId4"/>
    <p:sldMasterId id="2147483684" r:id="rId5"/>
    <p:sldMasterId id="2147483687" r:id="rId6"/>
    <p:sldMasterId id="2147483689" r:id="rId7"/>
    <p:sldMasterId id="2147483697" r:id="rId8"/>
    <p:sldMasterId id="2147483699" r:id="rId9"/>
    <p:sldMasterId id="2147483701" r:id="rId10"/>
    <p:sldMasterId id="2147483704" r:id="rId11"/>
    <p:sldMasterId id="2147483711" r:id="rId12"/>
    <p:sldMasterId id="2147483731" r:id="rId13"/>
  </p:sldMasterIdLst>
  <p:notesMasterIdLst>
    <p:notesMasterId r:id="rId15"/>
  </p:notesMasterIdLst>
  <p:sldIdLst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6F8B18-9365-469B-BE15-8EFDC4B7CFB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AE6C"/>
    <a:srgbClr val="E2EFDA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3" autoAdjust="0"/>
    <p:restoredTop sz="86599" autoAdjust="0"/>
  </p:normalViewPr>
  <p:slideViewPr>
    <p:cSldViewPr snapToGrid="0">
      <p:cViewPr varScale="1">
        <p:scale>
          <a:sx n="110" d="100"/>
          <a:sy n="110" d="100"/>
        </p:scale>
        <p:origin x="1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55DC7-2663-4B56-88A8-ED3A4A8DA9E8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8A08F-AF08-4DD7-9C26-20BBCE47CB5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8A08F-AF08-4DD7-9C26-20BBCE47CB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37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599EA8-6349-3349-B5F3-BFB77398A869}"/>
              </a:ext>
            </a:extLst>
          </p:cNvPr>
          <p:cNvSpPr txBox="1"/>
          <p:nvPr userDrawn="1"/>
        </p:nvSpPr>
        <p:spPr>
          <a:xfrm>
            <a:off x="607249" y="1402065"/>
            <a:ext cx="391950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8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19879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412655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7287" y="2370889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873" y="365126"/>
            <a:ext cx="10516255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503" y="392126"/>
            <a:ext cx="11463110" cy="44912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79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1820" indent="0" algn="ctr">
              <a:buNone/>
              <a:defRPr sz="2590"/>
            </a:lvl2pPr>
            <a:lvl3pPr marL="1183640" indent="0" algn="ctr">
              <a:buNone/>
              <a:defRPr sz="2330"/>
            </a:lvl3pPr>
            <a:lvl4pPr marL="1775460" indent="0" algn="ctr">
              <a:buNone/>
              <a:defRPr sz="2070"/>
            </a:lvl4pPr>
            <a:lvl5pPr marL="2367280" indent="0" algn="ctr">
              <a:buNone/>
              <a:defRPr sz="2070"/>
            </a:lvl5pPr>
            <a:lvl6pPr marL="2959100" indent="0" algn="ctr">
              <a:buNone/>
              <a:defRPr sz="2070"/>
            </a:lvl6pPr>
            <a:lvl7pPr marL="3550285" indent="0" algn="ctr">
              <a:buNone/>
              <a:defRPr sz="2070"/>
            </a:lvl7pPr>
            <a:lvl8pPr marL="4142105" indent="0" algn="ctr">
              <a:buNone/>
              <a:defRPr sz="2070"/>
            </a:lvl8pPr>
            <a:lvl9pPr marL="4733925" indent="0" algn="ctr">
              <a:buNone/>
              <a:defRPr sz="207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46405" marR="0" indent="-285750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+mn-lt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+mn-lt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5160" y="21820"/>
            <a:ext cx="10839938" cy="78262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149" y="292853"/>
            <a:ext cx="11165928" cy="49908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596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43988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7" y="2130442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7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063" indent="0" algn="ctr">
              <a:buNone/>
              <a:defRPr/>
            </a:lvl2pPr>
            <a:lvl3pPr marL="914126" indent="0" algn="ctr">
              <a:buNone/>
              <a:defRPr/>
            </a:lvl3pPr>
            <a:lvl4pPr marL="1371189" indent="0" algn="ctr">
              <a:buNone/>
              <a:defRPr/>
            </a:lvl4pPr>
            <a:lvl5pPr marL="1828251" indent="0" algn="ctr">
              <a:buNone/>
              <a:defRPr/>
            </a:lvl5pPr>
            <a:lvl6pPr marL="2285314" indent="0" algn="ctr">
              <a:buNone/>
              <a:defRPr/>
            </a:lvl6pPr>
            <a:lvl7pPr marL="2742377" indent="0" algn="ctr">
              <a:buNone/>
              <a:defRPr/>
            </a:lvl7pPr>
            <a:lvl8pPr marL="3199440" indent="0" algn="ctr">
              <a:buNone/>
              <a:defRPr/>
            </a:lvl8pPr>
            <a:lvl9pPr marL="3656503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703" y="6369039"/>
            <a:ext cx="1584928" cy="88958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8837A9-4414-4165-8EAE-39FFCCC86BF4}"/>
              </a:ext>
            </a:extLst>
          </p:cNvPr>
          <p:cNvSpPr/>
          <p:nvPr userDrawn="1"/>
        </p:nvSpPr>
        <p:spPr>
          <a:xfrm>
            <a:off x="11166051" y="1205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55239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6B44-BE0C-46FF-9C1F-F121F0A25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79286-E0F1-4B14-82FF-8A20E3E9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A18C-8485-4170-878C-BAF6E3A76B40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A6EA-0396-4729-B804-1B426709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1A975-6E39-4A4C-B8C9-DC8EA52E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4141-DDEE-4913-93D9-7C4D45A748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E72C12-0CB5-4F9E-B70B-19C84187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5049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251" indent="0" algn="ctr">
              <a:buNone/>
              <a:defRPr sz="2598"/>
            </a:lvl2pPr>
            <a:lvl3pPr marL="1187135" indent="0" algn="ctr">
              <a:buNone/>
              <a:defRPr sz="2338"/>
            </a:lvl3pPr>
            <a:lvl4pPr marL="1780385" indent="0" algn="ctr">
              <a:buNone/>
              <a:defRPr sz="2078"/>
            </a:lvl4pPr>
            <a:lvl5pPr marL="2373635" indent="0" algn="ctr">
              <a:buNone/>
              <a:defRPr sz="2078"/>
            </a:lvl5pPr>
            <a:lvl6pPr marL="2966885" indent="0" algn="ctr">
              <a:buNone/>
              <a:defRPr sz="2078"/>
            </a:lvl6pPr>
            <a:lvl7pPr marL="3560770" indent="0" algn="ctr">
              <a:buNone/>
              <a:defRPr sz="2078"/>
            </a:lvl7pPr>
            <a:lvl8pPr marL="4154020" indent="0" algn="ctr">
              <a:buNone/>
              <a:defRPr sz="2078"/>
            </a:lvl8pPr>
            <a:lvl9pPr marL="4747270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5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39" algn="ctr"/>
              </a:tabLst>
              <a:defRPr sz="1798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360" indent="-171312">
              <a:buFont typeface="Arial" panose="020B0604020202020204" pitchFamily="34" charset="0"/>
              <a:buChar char="•"/>
              <a:tabLst>
                <a:tab pos="1207439" algn="ctr"/>
              </a:tabLst>
              <a:defRPr sz="1298" baseline="0"/>
            </a:lvl2pPr>
            <a:lvl3pPr marL="525360" indent="-171312">
              <a:buFont typeface="Arial" panose="020B0604020202020204" pitchFamily="34" charset="0"/>
              <a:buChar char="•"/>
              <a:tabLst>
                <a:tab pos="1207439" algn="ctr"/>
              </a:tabLst>
              <a:defRPr sz="1298" baseline="0"/>
            </a:lvl3pPr>
            <a:lvl4pPr marL="525360" indent="-171312">
              <a:buFont typeface="Arial" panose="020B0604020202020204" pitchFamily="34" charset="0"/>
              <a:buChar char="•"/>
              <a:tabLst>
                <a:tab pos="1207439" algn="ctr"/>
              </a:tabLst>
              <a:defRPr sz="1298" baseline="0"/>
            </a:lvl4pPr>
            <a:lvl5pPr marL="525360" indent="-171312">
              <a:buFont typeface="Arial" panose="020B0604020202020204" pitchFamily="34" charset="0"/>
              <a:buChar char="•"/>
              <a:tabLst>
                <a:tab pos="1207439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152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883" y="274865"/>
            <a:ext cx="10753699" cy="1143000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8884" y="1600201"/>
            <a:ext cx="5288883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1887" y="1600201"/>
            <a:ext cx="5290696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7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2" y="120530"/>
            <a:ext cx="1016473" cy="246221"/>
          </a:xfrm>
          <a:prstGeom prst="rect">
            <a:avLst/>
          </a:prstGeom>
          <a:noFill/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238953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143" marR="0" indent="-285522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+mn-lt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+mn-lt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0583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599EA8-6349-3349-B5F3-BFB77398A869}"/>
              </a:ext>
            </a:extLst>
          </p:cNvPr>
          <p:cNvSpPr txBox="1"/>
          <p:nvPr userDrawn="1"/>
        </p:nvSpPr>
        <p:spPr>
          <a:xfrm>
            <a:off x="607249" y="1402065"/>
            <a:ext cx="391950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8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636148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883" y="274865"/>
            <a:ext cx="10753699" cy="1143000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8884" y="1600201"/>
            <a:ext cx="5288883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1887" y="1600201"/>
            <a:ext cx="5290696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7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2" y="120530"/>
            <a:ext cx="1016473" cy="246221"/>
          </a:xfrm>
          <a:prstGeom prst="rect">
            <a:avLst/>
          </a:prstGeom>
          <a:noFill/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19774367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-北美前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7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2" y="120530"/>
            <a:ext cx="1016473" cy="246221"/>
          </a:xfrm>
          <a:prstGeom prst="rect">
            <a:avLst/>
          </a:prstGeom>
          <a:noFill/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148408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96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23536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4562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39" y="1940430"/>
            <a:ext cx="6520253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18249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0361" y="2376535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40" y="1940430"/>
            <a:ext cx="41800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9025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39" y="1940430"/>
            <a:ext cx="4912033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017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39" y="1940430"/>
            <a:ext cx="6520253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397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64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160" y="21820"/>
            <a:ext cx="10839938" cy="78262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799" b="1" baseline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4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39" y="1940430"/>
            <a:ext cx="6520253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4656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568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883" y="274865"/>
            <a:ext cx="10753699" cy="1143000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8883" y="1600201"/>
            <a:ext cx="5288883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1886" y="1600201"/>
            <a:ext cx="5290696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6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1" y="1205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6002978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92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6B44-BE0C-46FF-9C1F-F121F0A2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6" y="1181106"/>
            <a:ext cx="10752667" cy="4945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E72C12-0CB5-4F9E-B70B-19C841871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6" y="274641"/>
            <a:ext cx="10752667" cy="6270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28910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287867" y="296414"/>
            <a:ext cx="11616267" cy="871537"/>
          </a:xfrm>
          <a:prstGeom prst="rect">
            <a:avLst/>
          </a:prstGeom>
        </p:spPr>
        <p:txBody>
          <a:bodyPr lIns="121883" tIns="60944" rIns="121883" bIns="60944" anchor="ctr"/>
          <a:lstStyle>
            <a:lvl1pPr>
              <a:defRPr sz="3199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68"/>
          <p:cNvSpPr>
            <a:spLocks noGrp="1" noChangeArrowheads="1"/>
          </p:cNvSpPr>
          <p:nvPr>
            <p:ph idx="1"/>
          </p:nvPr>
        </p:nvSpPr>
        <p:spPr bwMode="auto">
          <a:xfrm>
            <a:off x="287867" y="1315155"/>
            <a:ext cx="11616267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118" tIns="40058" rIns="80118" bIns="40058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319" y="6396067"/>
            <a:ext cx="1491312" cy="83704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A1A3C89-C5E0-4C0D-B654-9E637455066A}"/>
              </a:ext>
            </a:extLst>
          </p:cNvPr>
          <p:cNvSpPr/>
          <p:nvPr userDrawn="1"/>
        </p:nvSpPr>
        <p:spPr>
          <a:xfrm>
            <a:off x="11166051" y="189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264846424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143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6B44-BE0C-46FF-9C1F-F121F0A2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6" y="1181106"/>
            <a:ext cx="10752667" cy="4945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E72C12-0CB5-4F9E-B70B-19C841871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6" y="274641"/>
            <a:ext cx="10752667" cy="6270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30643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-北美前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6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1" y="1205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39782526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5F45-292D-40F4-AD09-E69D5CCFE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2B0D8-C37D-4DF6-B1B8-9C54DBB1A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17" indent="0" algn="ctr">
              <a:buNone/>
              <a:defRPr sz="1999"/>
            </a:lvl2pPr>
            <a:lvl3pPr marL="914034" indent="0" algn="ctr">
              <a:buNone/>
              <a:defRPr sz="1799"/>
            </a:lvl3pPr>
            <a:lvl4pPr marL="1371051" indent="0" algn="ctr">
              <a:buNone/>
              <a:defRPr sz="1599"/>
            </a:lvl4pPr>
            <a:lvl5pPr marL="1828068" indent="0" algn="ctr">
              <a:buNone/>
              <a:defRPr sz="1599"/>
            </a:lvl5pPr>
            <a:lvl6pPr marL="2285086" indent="0" algn="ctr">
              <a:buNone/>
              <a:defRPr sz="1599"/>
            </a:lvl6pPr>
            <a:lvl7pPr marL="2742103" indent="0" algn="ctr">
              <a:buNone/>
              <a:defRPr sz="1599"/>
            </a:lvl7pPr>
            <a:lvl8pPr marL="3199120" indent="0" algn="ctr">
              <a:buNone/>
              <a:defRPr sz="1599"/>
            </a:lvl8pPr>
            <a:lvl9pPr marL="3656137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8BBA-F8D8-471A-9415-F87BEBBF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9CFC0-9DA0-4827-B953-0D4FABF5A50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75078-0F1D-4840-B99B-D1BB5BDC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1A385-E8D6-40B4-A461-6528A110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3F02-8335-4AA6-BA0D-B737DA8A0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669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94675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96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119178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143" marR="0" indent="-285522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+mn-lt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+mn-lt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2962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.tiff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23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.tiff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27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theme" Target="../theme/theme1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12285670" y="2625390"/>
            <a:ext cx="1962557" cy="4233515"/>
            <a:chOff x="5343883" y="-48857"/>
            <a:chExt cx="3263588" cy="7037279"/>
          </a:xfrm>
        </p:grpSpPr>
        <p:sp>
          <p:nvSpPr>
            <p:cNvPr id="6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70" name="文本框 15"/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7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7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7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7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7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77" name="文本框 15"/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7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8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8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8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8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8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8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8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8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8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9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9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9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9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9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9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9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9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9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0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0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0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0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0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0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0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3" name="TextBox 2"/>
          <p:cNvSpPr txBox="1"/>
          <p:nvPr userDrawn="1"/>
        </p:nvSpPr>
        <p:spPr>
          <a:xfrm>
            <a:off x="1095040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/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55" y="5970991"/>
            <a:ext cx="2259917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hf hdr="0" ftr="0" dt="0"/>
  <p:txStyles>
    <p:titleStyle>
      <a:lvl1pPr algn="l" defTabSz="913765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765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7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09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1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6" r:id="rId3"/>
    <p:sldLayoutId id="2147483677" r:id="rId4"/>
    <p:sldLayoutId id="2147483678" r:id="rId5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09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2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7" y="6402811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7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897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4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8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l" defTabSz="1186373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93" indent="-296593" algn="l" defTabSz="1186373" rtl="0" eaLnBrk="1" latinLnBrk="0" hangingPunct="1">
        <a:lnSpc>
          <a:spcPct val="90000"/>
        </a:lnSpc>
        <a:spcBef>
          <a:spcPts val="1296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8978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967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15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34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528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1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902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2089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188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373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56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749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5935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2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31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496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1" y="6356942"/>
            <a:ext cx="14628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6"/>
            <a:ext cx="499534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1507" y="2931937"/>
            <a:ext cx="1982142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18" y="6321130"/>
            <a:ext cx="1268579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789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135" rtl="0" eaLnBrk="1" latinLnBrk="0" hangingPunct="1">
        <a:lnSpc>
          <a:spcPct val="90000"/>
        </a:lnSpc>
        <a:spcBef>
          <a:spcPct val="0"/>
        </a:spcBef>
        <a:buNone/>
        <a:defRPr sz="57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42" indent="-296942" algn="l" defTabSz="1187135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90193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3442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6693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0577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3827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57078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0962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4213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251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135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0385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5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6885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0770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4020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47270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29736" y="274641"/>
            <a:ext cx="10752667" cy="62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8309" tIns="39153" rIns="78309" bIns="39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9736" y="1181106"/>
            <a:ext cx="10752667" cy="494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8309" tIns="39153" rIns="78309" bIns="39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291" y="6370729"/>
            <a:ext cx="1574341" cy="88364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FE653B1-907C-4114-86A3-CA1510D2232F}"/>
              </a:ext>
            </a:extLst>
          </p:cNvPr>
          <p:cNvSpPr/>
          <p:nvPr userDrawn="1"/>
        </p:nvSpPr>
        <p:spPr>
          <a:xfrm>
            <a:off x="11166051" y="1205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17345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4" r:id="rId4"/>
    <p:sldLayoutId id="2147483696" r:id="rId5"/>
    <p:sldLayoutId id="2147483747" r:id="rId6"/>
  </p:sldLayoutIdLst>
  <p:transition/>
  <p:hf sldNum="0" hdr="0" ftr="0"/>
  <p:txStyles>
    <p:titleStyle>
      <a:lvl1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+mj-lt"/>
          <a:ea typeface="+mj-ea"/>
          <a:cs typeface="+mj-cs"/>
        </a:defRPr>
      </a:lvl1pPr>
      <a:lvl2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2pPr>
      <a:lvl3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3pPr>
      <a:lvl4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4pPr>
      <a:lvl5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5pPr>
      <a:lvl6pPr marL="457063"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6pPr>
      <a:lvl7pPr marL="914126"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7pPr>
      <a:lvl8pPr marL="1371189"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8pPr>
      <a:lvl9pPr marL="1828251"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9pPr>
    </p:titleStyle>
    <p:bodyStyle>
      <a:lvl1pPr marL="293600" indent="-293600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 b="1">
          <a:solidFill>
            <a:schemeClr val="tx1"/>
          </a:solidFill>
          <a:latin typeface="+mn-lt"/>
          <a:ea typeface="+mn-ea"/>
          <a:cs typeface="+mn-cs"/>
        </a:defRPr>
      </a:lvl1pPr>
      <a:lvl2pPr marL="636397" indent="-244402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2pPr>
      <a:lvl3pPr marL="979194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3pPr>
      <a:lvl4pPr marL="1371189" indent="-196791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4pPr>
      <a:lvl5pPr marL="1761596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5pPr>
      <a:lvl6pPr marL="2218659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6pPr>
      <a:lvl7pPr marL="2675722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7pPr>
      <a:lvl8pPr marL="3132785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8pPr>
      <a:lvl9pPr marL="3589848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9pPr>
    </p:bodyStyle>
    <p:otherStyle>
      <a:defPPr>
        <a:defRPr lang="zh-CN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0" y="2625390"/>
            <a:ext cx="1962557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169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0" y="2625390"/>
            <a:ext cx="1962557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34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CD1975-F435-0C43-9931-DC58CEAFFC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235" y="5239240"/>
            <a:ext cx="1874868" cy="40591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03" y="1474840"/>
            <a:ext cx="3982676" cy="2816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24FF637-3127-064E-84EE-A0C7EB5BEE96}"/>
              </a:ext>
            </a:extLst>
          </p:cNvPr>
          <p:cNvSpPr txBox="1">
            <a:spLocks/>
          </p:cNvSpPr>
          <p:nvPr userDrawn="1"/>
        </p:nvSpPr>
        <p:spPr>
          <a:xfrm>
            <a:off x="7976241" y="2343267"/>
            <a:ext cx="3223909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9" name="Subtitle 6">
            <a:extLst>
              <a:ext uri="{FF2B5EF4-FFF2-40B4-BE49-F238E27FC236}">
                <a16:creationId xmlns:a16="http://schemas.microsoft.com/office/drawing/2014/main" id="{FBF16AD5-9EBA-8547-984B-E4E106BBD6C0}"/>
              </a:ext>
            </a:extLst>
          </p:cNvPr>
          <p:cNvSpPr txBox="1">
            <a:spLocks/>
          </p:cNvSpPr>
          <p:nvPr userDrawn="1"/>
        </p:nvSpPr>
        <p:spPr>
          <a:xfrm>
            <a:off x="7974557" y="1654431"/>
            <a:ext cx="348047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3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348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0" y="2625390"/>
            <a:ext cx="1962557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35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9" r:id="rId4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738613-2341-9046-8E35-A1048C744AF2}"/>
              </a:ext>
            </a:extLst>
          </p:cNvPr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9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948CB-D146-5247-A1C4-675148CE077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481" y="5972665"/>
            <a:ext cx="2259917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9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hf hdr="0" ftr="0" dt="0"/>
  <p:txStyles>
    <p:titleStyle>
      <a:lvl1pPr algn="l" defTabSz="914034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034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363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209C-5C0F-4DDD-A902-7E6FCEC2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49" y="220738"/>
            <a:ext cx="9512050" cy="400110"/>
          </a:xfrm>
        </p:spPr>
        <p:txBody>
          <a:bodyPr/>
          <a:lstStyle/>
          <a:p>
            <a:pPr defTabSz="913303"/>
            <a:r>
              <a:rPr lang="en-US" altLang="zh-CN" sz="2800" b="1" kern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NVIDIA</a:t>
            </a:r>
            <a:r>
              <a:rPr lang="zh-CN" altLang="en-US" sz="2800" b="1" kern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800" b="1" kern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GTC 2026 </a:t>
            </a:r>
            <a:r>
              <a:rPr lang="zh-CN" altLang="en-US" sz="2800" b="1" kern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参会概况</a:t>
            </a:r>
            <a:r>
              <a:rPr lang="en-US" altLang="zh-CN" sz="2800" b="1" kern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2800" b="1" kern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</a:p>
        </p:txBody>
      </p:sp>
      <p:sp>
        <p:nvSpPr>
          <p:cNvPr id="48" name="TextBox 32">
            <a:extLst>
              <a:ext uri="{FF2B5EF4-FFF2-40B4-BE49-F238E27FC236}">
                <a16:creationId xmlns:a16="http://schemas.microsoft.com/office/drawing/2014/main" id="{0A89CF59-C83F-432C-AEBC-3F1DE5128DD3}"/>
              </a:ext>
            </a:extLst>
          </p:cNvPr>
          <p:cNvSpPr txBox="1"/>
          <p:nvPr/>
        </p:nvSpPr>
        <p:spPr>
          <a:xfrm>
            <a:off x="4398879" y="6643832"/>
            <a:ext cx="8023520" cy="246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8013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defTabSz="80104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来</a:t>
            </a:r>
            <a:r>
              <a:rPr kumimoji="1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源：GTC 2026 Keynote S81595, 40+</a:t>
            </a:r>
            <a:r>
              <a:rPr kumimoji="1" lang="en-CA" altLang="zh-CN" sz="10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场Session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与CWE, 20+位专家1:1</a:t>
            </a:r>
            <a:endParaRPr kumimoji="1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aphicFrame>
        <p:nvGraphicFramePr>
          <p:cNvPr id="59" name="表格 15">
            <a:extLst>
              <a:ext uri="{FF2B5EF4-FFF2-40B4-BE49-F238E27FC236}">
                <a16:creationId xmlns:a16="http://schemas.microsoft.com/office/drawing/2014/main" id="{918A303E-DA52-4484-AC94-1B682C956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831869"/>
              </p:ext>
            </p:extLst>
          </p:nvPr>
        </p:nvGraphicFramePr>
        <p:xfrm>
          <a:off x="269861" y="5666685"/>
          <a:ext cx="11653626" cy="783886"/>
        </p:xfrm>
        <a:graphic>
          <a:graphicData uri="http://schemas.openxmlformats.org/drawingml/2006/table">
            <a:tbl>
              <a:tblPr firstRow="1" bandRow="1"/>
              <a:tblGrid>
                <a:gridCol w="113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6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886">
                <a:tc>
                  <a:txBody>
                    <a:bodyPr/>
                    <a:lstStyle>
                      <a:lvl1pPr marL="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1pPr>
                      <a:lvl2pPr marL="593488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2pPr>
                      <a:lvl3pPr marL="118761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3pPr>
                      <a:lvl4pPr marL="1781097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4pPr>
                      <a:lvl5pPr marL="2374585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5pPr>
                      <a:lvl6pPr marL="2968072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6pPr>
                      <a:lvl7pPr marL="3562194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7pPr>
                      <a:lvl8pPr marL="4155682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8pPr>
                      <a:lvl9pPr marL="474917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800" b="1" kern="1200" noProof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观察</a:t>
                      </a:r>
                      <a:endParaRPr lang="en-US" altLang="zh-CN" sz="1800" b="1" kern="1200" noProof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91332" marR="91332" marT="45666" marB="45666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C00000">
                            <a:shade val="30000"/>
                            <a:satMod val="115000"/>
                          </a:srgbClr>
                        </a:gs>
                        <a:gs pos="50000">
                          <a:srgbClr val="C00000">
                            <a:shade val="67500"/>
                            <a:satMod val="115000"/>
                          </a:srgbClr>
                        </a:gs>
                        <a:gs pos="100000">
                          <a:srgbClr val="C0000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>
                      <a:lvl1pPr marL="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1pPr>
                      <a:lvl2pPr marL="593488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2pPr>
                      <a:lvl3pPr marL="118761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3pPr>
                      <a:lvl4pPr marL="1781097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4pPr>
                      <a:lvl5pPr marL="2374585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5pPr>
                      <a:lvl6pPr marL="2968072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6pPr>
                      <a:lvl7pPr marL="3562194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7pPr>
                      <a:lvl8pPr marL="4155682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8pPr>
                      <a:lvl9pPr marL="474917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9pPr>
                    </a:lstStyle>
                    <a:p>
                      <a:pPr marL="0" indent="0">
                        <a:lnSpc>
                          <a:spcPct val="15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1600" b="1" dirty="0">
                          <a:solidFill>
                            <a:srgbClr val="1D1D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</a:t>
                      </a:r>
                      <a:r>
                        <a:rPr lang="zh-CN" altLang="en-US" sz="1600" b="1" dirty="0">
                          <a:solidFill>
                            <a:srgbClr val="1D1D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推理取代训练成为主战场 </a:t>
                      </a:r>
                      <a:r>
                        <a:rPr lang="en-US" altLang="zh-CN" sz="1600" b="1" dirty="0">
                          <a:solidFill>
                            <a:srgbClr val="1D1D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</a:t>
                      </a:r>
                      <a:r>
                        <a:rPr lang="zh-CN" altLang="en-US" sz="1600" b="1" dirty="0">
                          <a:solidFill>
                            <a:srgbClr val="1D1D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NV从芯片公司→AI Factory平台 </a:t>
                      </a:r>
                      <a:r>
                        <a:rPr lang="en-US" altLang="zh-CN" sz="1600" b="1" dirty="0">
                          <a:solidFill>
                            <a:srgbClr val="1D1D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</a:t>
                      </a:r>
                      <a:r>
                        <a:rPr lang="zh-CN" altLang="en-US" sz="1600" b="1" dirty="0">
                          <a:solidFill>
                            <a:srgbClr val="1D1D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软件栈替换成本持续攀升</a:t>
                      </a:r>
                    </a:p>
                  </a:txBody>
                  <a:tcPr marL="91332" marR="91332" marT="45666" marB="45666" anchor="ctr">
                    <a:lnL w="12700" cmpd="sng">
                      <a:noFill/>
                    </a:lnL>
                    <a:lnR w="762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2" name="组合 90">
            <a:extLst>
              <a:ext uri="{FF2B5EF4-FFF2-40B4-BE49-F238E27FC236}">
                <a16:creationId xmlns:a16="http://schemas.microsoft.com/office/drawing/2014/main" id="{642AD4DD-EA2D-481C-919F-1FF0BA4F98F7}"/>
              </a:ext>
            </a:extLst>
          </p:cNvPr>
          <p:cNvGrpSpPr/>
          <p:nvPr/>
        </p:nvGrpSpPr>
        <p:grpSpPr>
          <a:xfrm>
            <a:off x="5124063" y="945521"/>
            <a:ext cx="6890456" cy="4569831"/>
            <a:chOff x="538933" y="1209374"/>
            <a:chExt cx="8796718" cy="2320907"/>
          </a:xfrm>
        </p:grpSpPr>
        <p:sp>
          <p:nvSpPr>
            <p:cNvPr id="73" name="矩形 91">
              <a:extLst>
                <a:ext uri="{FF2B5EF4-FFF2-40B4-BE49-F238E27FC236}">
                  <a16:creationId xmlns:a16="http://schemas.microsoft.com/office/drawing/2014/main" id="{1E281509-1FEC-4450-A987-67424925C888}"/>
                </a:ext>
              </a:extLst>
            </p:cNvPr>
            <p:cNvSpPr/>
            <p:nvPr/>
          </p:nvSpPr>
          <p:spPr>
            <a:xfrm>
              <a:off x="538933" y="1211228"/>
              <a:ext cx="8788545" cy="2319053"/>
            </a:xfrm>
            <a:prstGeom prst="rect">
              <a:avLst/>
            </a:prstGeom>
            <a:noFill/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  <a:noAutofit/>
            </a:bodyPr>
            <a:lstStyle/>
            <a:p>
              <a:pPr algn="ctr" defTabSz="913472">
                <a:defRPr/>
              </a:pPr>
              <a:endParaRPr lang="zh-CN" altLang="en-US" sz="1797" kern="0">
                <a:solidFill>
                  <a:srgbClr val="66666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74" name="直接连接符 92">
              <a:extLst>
                <a:ext uri="{FF2B5EF4-FFF2-40B4-BE49-F238E27FC236}">
                  <a16:creationId xmlns:a16="http://schemas.microsoft.com/office/drawing/2014/main" id="{56152DBA-9902-4455-B0B5-A95B38430893}"/>
                </a:ext>
              </a:extLst>
            </p:cNvPr>
            <p:cNvCxnSpPr/>
            <p:nvPr/>
          </p:nvCxnSpPr>
          <p:spPr>
            <a:xfrm>
              <a:off x="538933" y="1211228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5" name="直接连接符 93">
              <a:extLst>
                <a:ext uri="{FF2B5EF4-FFF2-40B4-BE49-F238E27FC236}">
                  <a16:creationId xmlns:a16="http://schemas.microsoft.com/office/drawing/2014/main" id="{39A056DA-02E1-45DC-943B-279186A4C5D9}"/>
                </a:ext>
              </a:extLst>
            </p:cNvPr>
            <p:cNvCxnSpPr/>
            <p:nvPr/>
          </p:nvCxnSpPr>
          <p:spPr>
            <a:xfrm>
              <a:off x="538933" y="3528427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6" name="直接连接符 94">
              <a:extLst>
                <a:ext uri="{FF2B5EF4-FFF2-40B4-BE49-F238E27FC236}">
                  <a16:creationId xmlns:a16="http://schemas.microsoft.com/office/drawing/2014/main" id="{6C5584C6-A90C-4DC3-AE0A-5A68F6BC8A27}"/>
                </a:ext>
              </a:extLst>
            </p:cNvPr>
            <p:cNvCxnSpPr/>
            <p:nvPr/>
          </p:nvCxnSpPr>
          <p:spPr>
            <a:xfrm>
              <a:off x="8967478" y="3528427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7" name="直接连接符 95">
              <a:extLst>
                <a:ext uri="{FF2B5EF4-FFF2-40B4-BE49-F238E27FC236}">
                  <a16:creationId xmlns:a16="http://schemas.microsoft.com/office/drawing/2014/main" id="{76D7EF9F-1B99-4C28-AF35-94736FDBDF84}"/>
                </a:ext>
              </a:extLst>
            </p:cNvPr>
            <p:cNvCxnSpPr/>
            <p:nvPr/>
          </p:nvCxnSpPr>
          <p:spPr>
            <a:xfrm>
              <a:off x="8975651" y="1211228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8" name="直接连接符 96">
              <a:extLst>
                <a:ext uri="{FF2B5EF4-FFF2-40B4-BE49-F238E27FC236}">
                  <a16:creationId xmlns:a16="http://schemas.microsoft.com/office/drawing/2014/main" id="{FA406322-2AD2-479D-814C-7873D678CA40}"/>
                </a:ext>
              </a:extLst>
            </p:cNvPr>
            <p:cNvCxnSpPr/>
            <p:nvPr/>
          </p:nvCxnSpPr>
          <p:spPr>
            <a:xfrm flipH="1">
              <a:off x="9326736" y="1209374"/>
              <a:ext cx="1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9" name="直接连接符 97">
              <a:extLst>
                <a:ext uri="{FF2B5EF4-FFF2-40B4-BE49-F238E27FC236}">
                  <a16:creationId xmlns:a16="http://schemas.microsoft.com/office/drawing/2014/main" id="{F2BD3F44-5FC2-425C-AB6F-66FBBFEE612F}"/>
                </a:ext>
              </a:extLst>
            </p:cNvPr>
            <p:cNvCxnSpPr/>
            <p:nvPr/>
          </p:nvCxnSpPr>
          <p:spPr>
            <a:xfrm flipH="1">
              <a:off x="9326735" y="3166574"/>
              <a:ext cx="1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0" name="直接连接符 98">
              <a:extLst>
                <a:ext uri="{FF2B5EF4-FFF2-40B4-BE49-F238E27FC236}">
                  <a16:creationId xmlns:a16="http://schemas.microsoft.com/office/drawing/2014/main" id="{A8C73B3D-A0BA-4311-A788-01990C5368B1}"/>
                </a:ext>
              </a:extLst>
            </p:cNvPr>
            <p:cNvCxnSpPr/>
            <p:nvPr/>
          </p:nvCxnSpPr>
          <p:spPr>
            <a:xfrm flipH="1">
              <a:off x="540668" y="1209374"/>
              <a:ext cx="1234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1" name="直接连接符 99">
              <a:extLst>
                <a:ext uri="{FF2B5EF4-FFF2-40B4-BE49-F238E27FC236}">
                  <a16:creationId xmlns:a16="http://schemas.microsoft.com/office/drawing/2014/main" id="{E40F0575-DD0A-4F5B-BEEF-A7D02ACCB6AA}"/>
                </a:ext>
              </a:extLst>
            </p:cNvPr>
            <p:cNvCxnSpPr/>
            <p:nvPr/>
          </p:nvCxnSpPr>
          <p:spPr>
            <a:xfrm flipH="1">
              <a:off x="541900" y="3166506"/>
              <a:ext cx="2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82" name="文本框 37">
            <a:extLst>
              <a:ext uri="{FF2B5EF4-FFF2-40B4-BE49-F238E27FC236}">
                <a16:creationId xmlns:a16="http://schemas.microsoft.com/office/drawing/2014/main" id="{5D3ED9C7-4CA0-4D9B-AB57-774B2E6BFA99}"/>
              </a:ext>
            </a:extLst>
          </p:cNvPr>
          <p:cNvSpPr txBox="1"/>
          <p:nvPr/>
        </p:nvSpPr>
        <p:spPr>
          <a:xfrm>
            <a:off x="7066101" y="726407"/>
            <a:ext cx="3076981" cy="40011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defTabSz="914034"/>
            <a:r>
              <a:rPr lang="en-CA" altLang="zh-CN" sz="2000" b="1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核心发布</a:t>
            </a:r>
            <a:endParaRPr lang="en-US" altLang="zh-CN" sz="2000" b="1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CBC5A75E-2320-49FE-BEE6-7FD73D6112C3}"/>
              </a:ext>
            </a:extLst>
          </p:cNvPr>
          <p:cNvSpPr/>
          <p:nvPr/>
        </p:nvSpPr>
        <p:spPr>
          <a:xfrm>
            <a:off x="10200957" y="148946"/>
            <a:ext cx="720000" cy="216000"/>
          </a:xfrm>
          <a:prstGeom prst="chevron">
            <a:avLst/>
          </a:prstGeom>
          <a:solidFill>
            <a:schemeClr val="bg1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低精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9B0D60F5-48AA-4E3D-A20A-76134A514A41}"/>
              </a:ext>
            </a:extLst>
          </p:cNvPr>
          <p:cNvSpPr/>
          <p:nvPr/>
        </p:nvSpPr>
        <p:spPr>
          <a:xfrm>
            <a:off x="10814703" y="148946"/>
            <a:ext cx="720000" cy="216000"/>
          </a:xfrm>
          <a:prstGeom prst="chevron">
            <a:avLst/>
          </a:prstGeom>
          <a:solidFill>
            <a:schemeClr val="bg1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具身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6D9A44A-5C90-4CBD-B979-6384F2EAAB69}"/>
              </a:ext>
            </a:extLst>
          </p:cNvPr>
          <p:cNvSpPr/>
          <p:nvPr/>
        </p:nvSpPr>
        <p:spPr>
          <a:xfrm>
            <a:off x="328507" y="1031028"/>
            <a:ext cx="4672454" cy="2521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大会信息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时间：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年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16-19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日（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天）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地点：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San Jose Convention Center + SAP Center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Keynote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Jensen Huang 3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日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参会团队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人（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人现场 + 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人线上）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覆盖：</a:t>
            </a: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40+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场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Session/CWE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20+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位线下接触</a:t>
            </a:r>
            <a:r>
              <a:rPr lang="en-US" altLang="zh-CN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1:1</a:t>
            </a:r>
          </a:p>
        </p:txBody>
      </p:sp>
      <p:grpSp>
        <p:nvGrpSpPr>
          <p:cNvPr id="86" name="组合 90">
            <a:extLst>
              <a:ext uri="{FF2B5EF4-FFF2-40B4-BE49-F238E27FC236}">
                <a16:creationId xmlns:a16="http://schemas.microsoft.com/office/drawing/2014/main" id="{0F70A3BA-D3A7-43AA-81D8-D176E33EC9C8}"/>
              </a:ext>
            </a:extLst>
          </p:cNvPr>
          <p:cNvGrpSpPr/>
          <p:nvPr/>
        </p:nvGrpSpPr>
        <p:grpSpPr>
          <a:xfrm>
            <a:off x="269862" y="931989"/>
            <a:ext cx="4672454" cy="4573486"/>
            <a:chOff x="538933" y="1209374"/>
            <a:chExt cx="8796718" cy="2320907"/>
          </a:xfrm>
        </p:grpSpPr>
        <p:sp>
          <p:nvSpPr>
            <p:cNvPr id="87" name="矩形 91">
              <a:extLst>
                <a:ext uri="{FF2B5EF4-FFF2-40B4-BE49-F238E27FC236}">
                  <a16:creationId xmlns:a16="http://schemas.microsoft.com/office/drawing/2014/main" id="{7AC11E7E-D12F-46B5-A0CA-61D10D7579B3}"/>
                </a:ext>
              </a:extLst>
            </p:cNvPr>
            <p:cNvSpPr/>
            <p:nvPr/>
          </p:nvSpPr>
          <p:spPr>
            <a:xfrm>
              <a:off x="538933" y="1211228"/>
              <a:ext cx="8788545" cy="2319053"/>
            </a:xfrm>
            <a:prstGeom prst="rect">
              <a:avLst/>
            </a:prstGeom>
            <a:noFill/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  <a:noAutofit/>
            </a:bodyPr>
            <a:lstStyle/>
            <a:p>
              <a:pPr algn="ctr" defTabSz="913472">
                <a:defRPr/>
              </a:pPr>
              <a:endParaRPr lang="zh-CN" altLang="en-US" sz="1797" kern="0">
                <a:solidFill>
                  <a:srgbClr val="66666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cxnSp>
          <p:nvCxnSpPr>
            <p:cNvPr id="88" name="直接连接符 92">
              <a:extLst>
                <a:ext uri="{FF2B5EF4-FFF2-40B4-BE49-F238E27FC236}">
                  <a16:creationId xmlns:a16="http://schemas.microsoft.com/office/drawing/2014/main" id="{39175185-4D81-4648-9D10-07C7B2E60CBC}"/>
                </a:ext>
              </a:extLst>
            </p:cNvPr>
            <p:cNvCxnSpPr/>
            <p:nvPr/>
          </p:nvCxnSpPr>
          <p:spPr>
            <a:xfrm>
              <a:off x="538933" y="1211228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9" name="直接连接符 93">
              <a:extLst>
                <a:ext uri="{FF2B5EF4-FFF2-40B4-BE49-F238E27FC236}">
                  <a16:creationId xmlns:a16="http://schemas.microsoft.com/office/drawing/2014/main" id="{92C0A293-0900-48B3-B210-94E095B3CD71}"/>
                </a:ext>
              </a:extLst>
            </p:cNvPr>
            <p:cNvCxnSpPr/>
            <p:nvPr/>
          </p:nvCxnSpPr>
          <p:spPr>
            <a:xfrm>
              <a:off x="538933" y="3528427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0" name="直接连接符 94">
              <a:extLst>
                <a:ext uri="{FF2B5EF4-FFF2-40B4-BE49-F238E27FC236}">
                  <a16:creationId xmlns:a16="http://schemas.microsoft.com/office/drawing/2014/main" id="{E0895FBE-C908-45C6-ABDA-595F1E4C8E18}"/>
                </a:ext>
              </a:extLst>
            </p:cNvPr>
            <p:cNvCxnSpPr/>
            <p:nvPr/>
          </p:nvCxnSpPr>
          <p:spPr>
            <a:xfrm>
              <a:off x="8967478" y="3528427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1" name="直接连接符 95">
              <a:extLst>
                <a:ext uri="{FF2B5EF4-FFF2-40B4-BE49-F238E27FC236}">
                  <a16:creationId xmlns:a16="http://schemas.microsoft.com/office/drawing/2014/main" id="{D53E06F9-0311-4739-94F2-DC9F50A09B14}"/>
                </a:ext>
              </a:extLst>
            </p:cNvPr>
            <p:cNvCxnSpPr/>
            <p:nvPr/>
          </p:nvCxnSpPr>
          <p:spPr>
            <a:xfrm>
              <a:off x="8975651" y="1211228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2" name="直接连接符 96">
              <a:extLst>
                <a:ext uri="{FF2B5EF4-FFF2-40B4-BE49-F238E27FC236}">
                  <a16:creationId xmlns:a16="http://schemas.microsoft.com/office/drawing/2014/main" id="{3830BA73-9515-46E2-A55F-1B91D87A3C42}"/>
                </a:ext>
              </a:extLst>
            </p:cNvPr>
            <p:cNvCxnSpPr/>
            <p:nvPr/>
          </p:nvCxnSpPr>
          <p:spPr>
            <a:xfrm flipH="1">
              <a:off x="9326736" y="1209374"/>
              <a:ext cx="1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3" name="直接连接符 97">
              <a:extLst>
                <a:ext uri="{FF2B5EF4-FFF2-40B4-BE49-F238E27FC236}">
                  <a16:creationId xmlns:a16="http://schemas.microsoft.com/office/drawing/2014/main" id="{B1DD77C1-8C9A-42AD-A743-E42C6FD900CD}"/>
                </a:ext>
              </a:extLst>
            </p:cNvPr>
            <p:cNvCxnSpPr/>
            <p:nvPr/>
          </p:nvCxnSpPr>
          <p:spPr>
            <a:xfrm flipH="1">
              <a:off x="9326735" y="3166574"/>
              <a:ext cx="1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4" name="直接连接符 98">
              <a:extLst>
                <a:ext uri="{FF2B5EF4-FFF2-40B4-BE49-F238E27FC236}">
                  <a16:creationId xmlns:a16="http://schemas.microsoft.com/office/drawing/2014/main" id="{CFCF3DD4-3B89-4715-A34C-82940B6B1CF2}"/>
                </a:ext>
              </a:extLst>
            </p:cNvPr>
            <p:cNvCxnSpPr/>
            <p:nvPr/>
          </p:nvCxnSpPr>
          <p:spPr>
            <a:xfrm flipH="1">
              <a:off x="540668" y="1209374"/>
              <a:ext cx="1234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5" name="直接连接符 99">
              <a:extLst>
                <a:ext uri="{FF2B5EF4-FFF2-40B4-BE49-F238E27FC236}">
                  <a16:creationId xmlns:a16="http://schemas.microsoft.com/office/drawing/2014/main" id="{792EA0C3-1DB1-4198-9460-017E1707AD21}"/>
                </a:ext>
              </a:extLst>
            </p:cNvPr>
            <p:cNvCxnSpPr/>
            <p:nvPr/>
          </p:nvCxnSpPr>
          <p:spPr>
            <a:xfrm flipH="1">
              <a:off x="541900" y="3166506"/>
              <a:ext cx="2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96" name="文本框 37">
            <a:extLst>
              <a:ext uri="{FF2B5EF4-FFF2-40B4-BE49-F238E27FC236}">
                <a16:creationId xmlns:a16="http://schemas.microsoft.com/office/drawing/2014/main" id="{EEA931D5-0B6E-458F-923B-94425A647470}"/>
              </a:ext>
            </a:extLst>
          </p:cNvPr>
          <p:cNvSpPr txBox="1"/>
          <p:nvPr/>
        </p:nvSpPr>
        <p:spPr>
          <a:xfrm>
            <a:off x="1291082" y="739343"/>
            <a:ext cx="3076981" cy="40011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defTabSz="914034"/>
            <a:r>
              <a:rPr lang="zh-CN" altLang="en-US" sz="2000" b="1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参会概况</a:t>
            </a:r>
            <a:endParaRPr lang="en-US" altLang="zh-CN" sz="2000" b="1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7" name="TextBox 32">
            <a:extLst>
              <a:ext uri="{FF2B5EF4-FFF2-40B4-BE49-F238E27FC236}">
                <a16:creationId xmlns:a16="http://schemas.microsoft.com/office/drawing/2014/main" id="{2604EE25-BC52-4842-A088-D30339186215}"/>
              </a:ext>
            </a:extLst>
          </p:cNvPr>
          <p:cNvSpPr txBox="1"/>
          <p:nvPr/>
        </p:nvSpPr>
        <p:spPr>
          <a:xfrm>
            <a:off x="256449" y="6611779"/>
            <a:ext cx="25153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贡献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人：</a:t>
            </a:r>
            <a:r>
              <a:rPr kumimoji="0" lang="en-CA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Eason Zhao</a:t>
            </a:r>
            <a:endParaRPr kumimoji="0" lang="en-CA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0" name="RightContent"/>
          <p:cNvSpPr txBox="1"/>
          <p:nvPr/>
        </p:nvSpPr>
        <p:spPr>
          <a:xfrm>
            <a:off x="5198065" y="1068531"/>
            <a:ext cx="3257227" cy="465569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Vera Rubin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平台 </a:t>
            </a:r>
            <a:endParaRPr lang="en-CA" altLang="zh-CN" sz="1400" dirty="0">
              <a:solidFill>
                <a:srgbClr val="1D1D1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685800" lvl="1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tokens/s/watt 5x提升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LPU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协处理器 </a:t>
            </a:r>
            <a:endParaRPr lang="en-CA" altLang="zh-CN" sz="1400" dirty="0">
              <a:solidFill>
                <a:srgbClr val="1D1D1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685800" lvl="1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Groq 3集成，decode加速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Dynamo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推理OS + NIXL通信协议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NVL1152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架构</a:t>
            </a:r>
            <a:endParaRPr lang="en-CA" altLang="zh-CN" sz="1400" dirty="0">
              <a:solidFill>
                <a:srgbClr val="1D1D1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685800" lvl="1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1152颗Rubin GPU互联</a:t>
            </a:r>
            <a:endParaRPr lang="en-US" altLang="zh-CN" sz="1400" b="1" dirty="0">
              <a:solidFill>
                <a:srgbClr val="1D1D1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DSX AI Factory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操作系统</a:t>
            </a:r>
            <a:endParaRPr lang="en-CA" altLang="zh-CN" sz="1400" dirty="0">
              <a:solidFill>
                <a:srgbClr val="1D1D1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685800" lvl="1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Agent集群管理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OpenClaw</a:t>
            </a: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en-US" altLang="zh-CN" sz="1400" b="1" dirty="0" err="1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NemoClaw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endParaRPr lang="en-CA" altLang="zh-CN" sz="1400" dirty="0">
              <a:solidFill>
                <a:srgbClr val="1D1D1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685800" lvl="1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Agent部署框架</a:t>
            </a:r>
          </a:p>
          <a:p>
            <a:pPr marL="228600" indent="-22860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Newton</a:t>
            </a:r>
            <a:r>
              <a:rPr lang="zh-CN" altLang="en-US" sz="1400" dirty="0">
                <a:solidFill>
                  <a:srgbClr val="1D1D1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物理引擎 + Isaac Labs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zh-CN" altLang="en-US" sz="16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Arrow: Chevron 82">
            <a:extLst>
              <a:ext uri="{FF2B5EF4-FFF2-40B4-BE49-F238E27FC236}">
                <a16:creationId xmlns:a16="http://schemas.microsoft.com/office/drawing/2014/main" id="{D662F3F8-D7E7-2CEC-D026-C2836FF13B35}"/>
              </a:ext>
            </a:extLst>
          </p:cNvPr>
          <p:cNvSpPr/>
          <p:nvPr/>
        </p:nvSpPr>
        <p:spPr>
          <a:xfrm>
            <a:off x="8192566" y="149210"/>
            <a:ext cx="720000" cy="216000"/>
          </a:xfrm>
          <a:prstGeom prst="chevron">
            <a:avLst/>
          </a:prstGeom>
          <a:solidFill>
            <a:srgbClr val="C000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>
                <a:solidFill>
                  <a:prstClr val="whit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概览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Arrow: Chevron 57">
            <a:extLst>
              <a:ext uri="{FF2B5EF4-FFF2-40B4-BE49-F238E27FC236}">
                <a16:creationId xmlns:a16="http://schemas.microsoft.com/office/drawing/2014/main" id="{66B5D1AB-DC25-CD6F-B3C9-70D99D8F5029}"/>
              </a:ext>
            </a:extLst>
          </p:cNvPr>
          <p:cNvSpPr/>
          <p:nvPr/>
        </p:nvSpPr>
        <p:spPr>
          <a:xfrm>
            <a:off x="8797761" y="149209"/>
            <a:ext cx="720000" cy="216000"/>
          </a:xfrm>
          <a:prstGeom prst="chevron">
            <a:avLst/>
          </a:prstGeom>
          <a:solidFill>
            <a:schemeClr val="bg1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Arrow: Chevron 57">
            <a:extLst>
              <a:ext uri="{FF2B5EF4-FFF2-40B4-BE49-F238E27FC236}">
                <a16:creationId xmlns:a16="http://schemas.microsoft.com/office/drawing/2014/main" id="{9D99AC97-8260-BED0-9AD8-D0E4814F1900}"/>
              </a:ext>
            </a:extLst>
          </p:cNvPr>
          <p:cNvSpPr/>
          <p:nvPr/>
        </p:nvSpPr>
        <p:spPr>
          <a:xfrm>
            <a:off x="9405773" y="148946"/>
            <a:ext cx="900000" cy="216000"/>
          </a:xfrm>
          <a:prstGeom prst="chevron">
            <a:avLst/>
          </a:prstGeom>
          <a:solidFill>
            <a:schemeClr val="bg1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Arrow: Chevron 59">
            <a:extLst>
              <a:ext uri="{FF2B5EF4-FFF2-40B4-BE49-F238E27FC236}">
                <a16:creationId xmlns:a16="http://schemas.microsoft.com/office/drawing/2014/main" id="{C46F642C-73F6-9AEB-872B-160FB91A2BE4}"/>
              </a:ext>
            </a:extLst>
          </p:cNvPr>
          <p:cNvSpPr/>
          <p:nvPr/>
        </p:nvSpPr>
        <p:spPr>
          <a:xfrm>
            <a:off x="11399898" y="150086"/>
            <a:ext cx="720000" cy="216000"/>
          </a:xfrm>
          <a:prstGeom prst="chevron">
            <a:avLst/>
          </a:prstGeom>
          <a:solidFill>
            <a:schemeClr val="bg1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硬件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86787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0E0E0">
            <a:alpha val="90000"/>
          </a:srgb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5.xml><?xml version="1.0" encoding="utf-8"?>
<a:theme xmlns:a="http://schemas.openxmlformats.org/drawingml/2006/main" name="1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6.xml><?xml version="1.0" encoding="utf-8"?>
<a:theme xmlns:a="http://schemas.openxmlformats.org/drawingml/2006/main" name="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BlackCn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BlackCn" pitchFamily="34" charset="0"/>
            <a:ea typeface="MS PGothic" pitchFamily="34" charset="-128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9.xml><?xml version="1.0" encoding="utf-8"?>
<a:theme xmlns:a="http://schemas.openxmlformats.org/drawingml/2006/main" name="2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0.xml><?xml version="1.0" encoding="utf-8"?>
<a:theme xmlns:a="http://schemas.openxmlformats.org/drawingml/2006/main" name="End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48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19CE10E0-DEB1-4025-A926-EA35B177B1A8}"/>
    </a:ext>
  </a:extLst>
</a:theme>
</file>

<file path=ppt/theme/theme11.xml><?xml version="1.0" encoding="utf-8"?>
<a:theme xmlns:a="http://schemas.openxmlformats.org/drawingml/2006/main" name="3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2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13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14227</TotalTime>
  <Words>184</Words>
  <Application>Microsoft Macintosh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1</vt:i4>
      </vt:variant>
    </vt:vector>
  </HeadingPairs>
  <TitlesOfParts>
    <vt:vector size="21" baseType="lpstr">
      <vt:lpstr>.AppleSystemUIFont</vt:lpstr>
      <vt:lpstr>Microsoft YaHei</vt:lpstr>
      <vt:lpstr>Microsoft YaHei</vt:lpstr>
      <vt:lpstr>Microsoft YaHei UI</vt:lpstr>
      <vt:lpstr>Arial</vt:lpstr>
      <vt:lpstr>Calibri</vt:lpstr>
      <vt:lpstr>Wingdings</vt:lpstr>
      <vt:lpstr>Chapter page</vt:lpstr>
      <vt:lpstr>1_封面页_图片版 </vt:lpstr>
      <vt:lpstr>2_章节页</vt:lpstr>
      <vt:lpstr>1_章节页</vt:lpstr>
      <vt:lpstr>16_章节页</vt:lpstr>
      <vt:lpstr>6_Chart page</vt:lpstr>
      <vt:lpstr>4_自定义设计方案</vt:lpstr>
      <vt:lpstr>1_Chapter page</vt:lpstr>
      <vt:lpstr>2_Chapter page</vt:lpstr>
      <vt:lpstr>End page</vt:lpstr>
      <vt:lpstr>3_Chapter page</vt:lpstr>
      <vt:lpstr>Cover page_Image version</vt:lpstr>
      <vt:lpstr>3_章节页</vt:lpstr>
      <vt:lpstr>NVIDIA GTC 2026 参会概况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yubaifeng</dc:creator>
  <cp:lastModifiedBy>Lin, Wanzhen</cp:lastModifiedBy>
  <cp:revision>232</cp:revision>
  <dcterms:created xsi:type="dcterms:W3CDTF">2025-03-27T17:37:39Z</dcterms:created>
  <dcterms:modified xsi:type="dcterms:W3CDTF">2026-03-26T01:16:00Z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  <property fmtid="{D5CDD505-2E9C-101B-9397-08002B2CF9AE}" pid="4" name="_readonly">
    <vt:lpwstr/>
  </property>
  <property fmtid="{D5CDD505-2E9C-101B-9397-08002B2CF9AE}" pid="5" name="_change">
    <vt:lpwstr/>
  </property>
  <property fmtid="{D5CDD505-2E9C-101B-9397-08002B2CF9AE}" pid="6" name="_full-control">
    <vt:lpwstr/>
  </property>
  <property fmtid="{D5CDD505-2E9C-101B-9397-08002B2CF9AE}" pid="7" name="sflag">
    <vt:lpwstr>1762968278</vt:lpwstr>
  </property>
</Properties>
</file>