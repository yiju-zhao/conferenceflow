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9.xml" ContentType="application/vnd.openxmlformats-officedocument.presentationml.slideLayout+xml"/>
  <Override PartName="/ppt/theme/theme10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1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65" r:id="rId2"/>
    <p:sldMasterId id="2147483671" r:id="rId3"/>
    <p:sldMasterId id="2147483682" r:id="rId4"/>
    <p:sldMasterId id="2147483684" r:id="rId5"/>
    <p:sldMasterId id="2147483687" r:id="rId6"/>
    <p:sldMasterId id="2147483689" r:id="rId7"/>
    <p:sldMasterId id="2147483697" r:id="rId8"/>
    <p:sldMasterId id="2147483699" r:id="rId9"/>
    <p:sldMasterId id="2147483701" r:id="rId10"/>
    <p:sldMasterId id="2147483704" r:id="rId11"/>
    <p:sldMasterId id="2147483711" r:id="rId12"/>
    <p:sldMasterId id="2147483731" r:id="rId13"/>
  </p:sldMasterIdLst>
  <p:notesMasterIdLst>
    <p:notesMasterId r:id="rId23"/>
  </p:notesMasterIdLst>
  <p:sldIdLst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6F8B18-9365-469B-BE15-8EFDC4B7CFB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AE6C"/>
    <a:srgbClr val="E2EFDA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86595" autoAdjust="0"/>
  </p:normalViewPr>
  <p:slideViewPr>
    <p:cSldViewPr snapToGrid="0">
      <p:cViewPr varScale="1">
        <p:scale>
          <a:sx n="73" d="100"/>
          <a:sy n="73" d="100"/>
        </p:scale>
        <p:origin x="9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23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7" Type="http://schemas.openxmlformats.org/officeDocument/2006/relationships/tableStyles" Target="tableStyles.xml"/><Relationship Id="rId30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5DC7-2663-4B56-88A8-ED3A4A8DA9E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8A08F-AF08-4DD7-9C26-20BBCE47CB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27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2.xml"/></Relationships>
</file>

<file path=ppt/slideLayouts/_rels/slideLayout2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0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31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2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5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9879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873" y="365126"/>
            <a:ext cx="10516255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503" y="392126"/>
            <a:ext cx="11463110" cy="4491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9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1820" indent="0" algn="ctr">
              <a:buNone/>
              <a:defRPr sz="2590"/>
            </a:lvl2pPr>
            <a:lvl3pPr marL="1183640" indent="0" algn="ctr">
              <a:buNone/>
              <a:defRPr sz="2330"/>
            </a:lvl3pPr>
            <a:lvl4pPr marL="1775460" indent="0" algn="ctr">
              <a:buNone/>
              <a:defRPr sz="2070"/>
            </a:lvl4pPr>
            <a:lvl5pPr marL="2367280" indent="0" algn="ctr">
              <a:buNone/>
              <a:defRPr sz="2070"/>
            </a:lvl5pPr>
            <a:lvl6pPr marL="2959100" indent="0" algn="ctr">
              <a:buNone/>
              <a:defRPr sz="2070"/>
            </a:lvl6pPr>
            <a:lvl7pPr marL="3550285" indent="0" algn="ctr">
              <a:buNone/>
              <a:defRPr sz="2070"/>
            </a:lvl7pPr>
            <a:lvl8pPr marL="4142105" indent="0" algn="ctr">
              <a:buNone/>
              <a:defRPr sz="2070"/>
            </a:lvl8pPr>
            <a:lvl9pPr marL="4733925" indent="0" algn="ctr">
              <a:buNone/>
              <a:defRPr sz="207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6405" marR="0" indent="-285750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+mn-lt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+mn-lt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5160" y="21820"/>
            <a:ext cx="10839938" cy="78262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149" y="292853"/>
            <a:ext cx="11165928" cy="49908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9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4398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7" y="213044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7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063" indent="0" algn="ctr">
              <a:buNone/>
              <a:defRPr/>
            </a:lvl2pPr>
            <a:lvl3pPr marL="914126" indent="0" algn="ctr">
              <a:buNone/>
              <a:defRPr/>
            </a:lvl3pPr>
            <a:lvl4pPr marL="1371189" indent="0" algn="ctr">
              <a:buNone/>
              <a:defRPr/>
            </a:lvl4pPr>
            <a:lvl5pPr marL="1828251" indent="0" algn="ctr">
              <a:buNone/>
              <a:defRPr/>
            </a:lvl5pPr>
            <a:lvl6pPr marL="2285314" indent="0" algn="ctr">
              <a:buNone/>
              <a:defRPr/>
            </a:lvl6pPr>
            <a:lvl7pPr marL="2742377" indent="0" algn="ctr">
              <a:buNone/>
              <a:defRPr/>
            </a:lvl7pPr>
            <a:lvl8pPr marL="3199440" indent="0" algn="ctr">
              <a:buNone/>
              <a:defRPr/>
            </a:lvl8pPr>
            <a:lvl9pPr marL="3656503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703" y="6369039"/>
            <a:ext cx="1584928" cy="88958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8837A9-4414-4165-8EAE-39FFCCC86BF4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55239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9286-E0F1-4B14-82FF-8A20E3E9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A18C-8485-4170-878C-BAF6E3A76B40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A6EA-0396-4729-B804-1B426709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A975-6E39-4A4C-B8C9-DC8EA52E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4141-DDEE-4913-93D9-7C4D45A748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04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8"/>
            </a:lvl2pPr>
            <a:lvl3pPr marL="1187135" indent="0" algn="ctr">
              <a:buNone/>
              <a:defRPr sz="2338"/>
            </a:lvl3pPr>
            <a:lvl4pPr marL="1780385" indent="0" algn="ctr">
              <a:buNone/>
              <a:defRPr sz="2078"/>
            </a:lvl4pPr>
            <a:lvl5pPr marL="2373635" indent="0" algn="ctr">
              <a:buNone/>
              <a:defRPr sz="2078"/>
            </a:lvl5pPr>
            <a:lvl6pPr marL="2966885" indent="0" algn="ctr">
              <a:buNone/>
              <a:defRPr sz="2078"/>
            </a:lvl6pPr>
            <a:lvl7pPr marL="3560770" indent="0" algn="ctr">
              <a:buNone/>
              <a:defRPr sz="2078"/>
            </a:lvl7pPr>
            <a:lvl8pPr marL="4154020" indent="0" algn="ctr">
              <a:buNone/>
              <a:defRPr sz="2078"/>
            </a:lvl8pPr>
            <a:lvl9pPr marL="4747270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5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39" algn="ctr"/>
              </a:tabLst>
              <a:defRPr sz="179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2pPr>
            <a:lvl3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3pPr>
            <a:lvl4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4pPr>
            <a:lvl5pPr marL="525360" indent="-171312">
              <a:buFont typeface="Arial" panose="020B0604020202020204" pitchFamily="34" charset="0"/>
              <a:buChar char="•"/>
              <a:tabLst>
                <a:tab pos="1207439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52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4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7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238953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143" marR="0" indent="-285522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+mn-lt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+mn-lt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0583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636148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4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7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977436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-北美前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7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2" y="120530"/>
            <a:ext cx="1016473" cy="246221"/>
          </a:xfrm>
          <a:prstGeom prst="rect">
            <a:avLst/>
          </a:prstGeom>
          <a:noFill/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48408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96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3536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4562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1824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0361" y="2376535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40" y="1940430"/>
            <a:ext cx="41800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9025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491203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017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397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64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160" y="21820"/>
            <a:ext cx="10839938" cy="78262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9" b="1" baseline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4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498" y="6237532"/>
            <a:ext cx="1482525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5639" y="1940430"/>
            <a:ext cx="6520253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926" y="900634"/>
            <a:ext cx="6583453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4656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6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883" y="274865"/>
            <a:ext cx="10753699" cy="1143000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8883" y="1600201"/>
            <a:ext cx="5288883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1886" y="1600201"/>
            <a:ext cx="5290696" cy="4525736"/>
          </a:xfrm>
          <a:prstGeom prst="rect">
            <a:avLst/>
          </a:prstGeom>
        </p:spPr>
        <p:txBody>
          <a:bodyPr lIns="85862" tIns="42931" rIns="85862" bIns="42931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6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600297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92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6" y="1181106"/>
            <a:ext cx="10752667" cy="4945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6" y="274641"/>
            <a:ext cx="10752667" cy="627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28910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287867" y="296414"/>
            <a:ext cx="11616267" cy="871537"/>
          </a:xfrm>
          <a:prstGeom prst="rect">
            <a:avLst/>
          </a:prstGeom>
        </p:spPr>
        <p:txBody>
          <a:bodyPr lIns="121883" tIns="60944" rIns="121883" bIns="60944" anchor="ctr"/>
          <a:lstStyle>
            <a:lvl1pPr>
              <a:defRPr sz="3199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287867" y="1315155"/>
            <a:ext cx="11616267" cy="492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18" tIns="40058" rIns="80118" bIns="40058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319" y="6396067"/>
            <a:ext cx="1491312" cy="83704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A1A3C89-C5E0-4C0D-B654-9E637455066A}"/>
              </a:ext>
            </a:extLst>
          </p:cNvPr>
          <p:cNvSpPr/>
          <p:nvPr userDrawn="1"/>
        </p:nvSpPr>
        <p:spPr>
          <a:xfrm>
            <a:off x="11166051" y="189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26484642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探索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143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6B44-BE0C-46FF-9C1F-F121F0A2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6" y="1181106"/>
            <a:ext cx="10752667" cy="4945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E72C12-0CB5-4F9E-B70B-19C8418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6" y="274641"/>
            <a:ext cx="10752667" cy="6270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30643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-北美前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26" y="6381750"/>
            <a:ext cx="1554706" cy="87262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C60B60-6A52-4B98-933B-AFED3593099E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39782526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5F45-292D-40F4-AD09-E69D5CCFE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2B0D8-C37D-4DF6-B1B8-9C54DBB1A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17" indent="0" algn="ctr">
              <a:buNone/>
              <a:defRPr sz="1999"/>
            </a:lvl2pPr>
            <a:lvl3pPr marL="914034" indent="0" algn="ctr">
              <a:buNone/>
              <a:defRPr sz="1799"/>
            </a:lvl3pPr>
            <a:lvl4pPr marL="1371051" indent="0" algn="ctr">
              <a:buNone/>
              <a:defRPr sz="1599"/>
            </a:lvl4pPr>
            <a:lvl5pPr marL="1828068" indent="0" algn="ctr">
              <a:buNone/>
              <a:defRPr sz="1599"/>
            </a:lvl5pPr>
            <a:lvl6pPr marL="2285086" indent="0" algn="ctr">
              <a:buNone/>
              <a:defRPr sz="1599"/>
            </a:lvl6pPr>
            <a:lvl7pPr marL="2742103" indent="0" algn="ctr">
              <a:buNone/>
              <a:defRPr sz="1599"/>
            </a:lvl7pPr>
            <a:lvl8pPr marL="3199120" indent="0" algn="ctr">
              <a:buNone/>
              <a:defRPr sz="1599"/>
            </a:lvl8pPr>
            <a:lvl9pPr marL="3656137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8BBA-F8D8-471A-9415-F87BEBBF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CFC0-9DA0-4827-B953-0D4FABF5A50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75078-0F1D-4840-B99B-D1BB5BDC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1A385-E8D6-40B4-A461-6528A110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3F02-8335-4AA6-BA0D-B737DA8A0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69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98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4675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96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11917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143" marR="0" indent="-285522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+mn-lt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+mn-lt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96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?>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4.xml"/></Relationships>
</file>

<file path=ppt/slideMasters/_rels/slideMaster5.xml.rels><?xml version="1.0" encoding="UTF-8"?>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theme" Target="../theme/theme6.xml"/></Relationships>
</file>

<file path=ppt/slideMasters/_rels/slideMaster7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8.xml.rels><?xml version="1.0" encoding="UTF-8"?>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8.xml"/></Relationships>
</file>

<file path=ppt/slideMasters/_rels/slideMaster9.xml.rels><?xml version="1.0" encoding="UTF-8"?>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9.xml"/></Relationships>
</file>

<file path=ppt/slideMasters/_rels/slideMaster10.xml.rels><?xml version="1.0" encoding="UTF-8"?>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?>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.tiff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23.xml"/></Relationships>
</file>

<file path=ppt/slideMasters/_rels/slideMaster12.xml.rels><?xml version="1.0" encoding="UTF-8"?>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.tiff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27.xml"/></Relationships>
</file>

<file path=ppt/slideMasters/_rels/slideMaster1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1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70" name="文本框 15"/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7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7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7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199/0/11  </a:t>
              </a:r>
            </a:p>
          </p:txBody>
        </p:sp>
        <p:sp>
          <p:nvSpPr>
            <p:cNvPr id="77" name="文本框 15"/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200/16/46  </a:t>
              </a:r>
            </a:p>
          </p:txBody>
        </p:sp>
        <p:sp>
          <p:nvSpPr>
            <p:cNvPr id="7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8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8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8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9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0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0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0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0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6" r:id="rId3"/>
    <p:sldLayoutId id="2147483677" r:id="rId4"/>
    <p:sldLayoutId id="2147483678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09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2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7" y="6402811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7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7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4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8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42"/>
            <a:ext cx="1462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 xml:space="preserve"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 xml:space="preserve"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8" y="6321130"/>
            <a:ext cx="1268579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789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135" rtl="0" eaLnBrk="1" latinLnBrk="0" hangingPunct="1">
        <a:lnSpc>
          <a:spcPct val="90000"/>
        </a:lnSpc>
        <a:spcBef>
          <a:spcPct val="0"/>
        </a:spcBef>
        <a:buNone/>
        <a:defRPr sz="57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42" indent="-296942" algn="l" defTabSz="1187135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9019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3442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669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0577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3827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57078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0962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4213" indent="-296942" algn="l" defTabSz="118713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251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13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038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6885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077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402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47270" algn="l" defTabSz="1187135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29736" y="274641"/>
            <a:ext cx="10752667" cy="62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9736" y="1181106"/>
            <a:ext cx="10752667" cy="494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8309" tIns="39153" rIns="78309" bIns="39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291" y="6370729"/>
            <a:ext cx="1574341" cy="8836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E653B1-907C-4114-86A3-CA1510D2232F}"/>
              </a:ext>
            </a:extLst>
          </p:cNvPr>
          <p:cNvSpPr/>
          <p:nvPr userDrawn="1"/>
        </p:nvSpPr>
        <p:spPr>
          <a:xfrm>
            <a:off x="11166051" y="120528"/>
            <a:ext cx="1016473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CARI</a:t>
            </a:r>
            <a:r>
              <a:rPr lang="zh-CN" altLang="en-US" sz="1000" b="1" spc="50" dirty="0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/>
                <a:ea typeface="等线" panose="02010600030101010101" pitchFamily="2" charset="-122"/>
              </a:rPr>
              <a:t>北美前沿</a:t>
            </a:r>
          </a:p>
        </p:txBody>
      </p:sp>
    </p:spTree>
    <p:extLst>
      <p:ext uri="{BB962C8B-B14F-4D97-AF65-F5344CB8AC3E}">
        <p14:creationId xmlns:p14="http://schemas.microsoft.com/office/powerpoint/2010/main" val="17345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4" r:id="rId4"/>
    <p:sldLayoutId id="2147483696" r:id="rId5"/>
    <p:sldLayoutId id="2147483747" r:id="rId6"/>
  </p:sldLayoutIdLst>
  <p:transition/>
  <p:hf sldNum="0" hdr="0" ftr="0"/>
  <p:txStyles>
    <p:titleStyle>
      <a:lvl1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2pPr>
      <a:lvl3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3pPr>
      <a:lvl4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4pPr>
      <a:lvl5pPr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5pPr>
      <a:lvl6pPr marL="457063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6pPr>
      <a:lvl7pPr marL="914126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7pPr>
      <a:lvl8pPr marL="1371189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8pPr>
      <a:lvl9pPr marL="1828251" algn="l" defTabSz="783990" rtl="0" fontAlgn="base">
        <a:spcBef>
          <a:spcPct val="0"/>
        </a:spcBef>
        <a:spcAft>
          <a:spcPct val="0"/>
        </a:spcAft>
        <a:defRPr sz="2999" b="1">
          <a:solidFill>
            <a:srgbClr val="990000"/>
          </a:solidFill>
          <a:latin typeface="Arial" charset="0"/>
          <a:ea typeface="黑体" pitchFamily="2" charset="-122"/>
        </a:defRPr>
      </a:lvl9pPr>
    </p:titleStyle>
    <p:bodyStyle>
      <a:lvl1pPr marL="293600" indent="-293600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 b="1">
          <a:solidFill>
            <a:schemeClr val="tx1"/>
          </a:solidFill>
          <a:latin typeface="+mn-lt"/>
          <a:ea typeface="+mn-ea"/>
          <a:cs typeface="+mn-cs"/>
        </a:defRPr>
      </a:lvl1pPr>
      <a:lvl2pPr marL="636397" indent="-244402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2pPr>
      <a:lvl3pPr marL="979194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3pPr>
      <a:lvl4pPr marL="1371189" indent="-196791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4pPr>
      <a:lvl5pPr marL="1761596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5pPr>
      <a:lvl6pPr marL="2218659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6pPr>
      <a:lvl7pPr marL="2675722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7pPr>
      <a:lvl8pPr marL="3132785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8pPr>
      <a:lvl9pPr marL="3589848" indent="-195204" algn="l" defTabSz="783990" rtl="0" fontAlgn="base">
        <a:lnSpc>
          <a:spcPct val="140000"/>
        </a:lnSpc>
        <a:spcBef>
          <a:spcPct val="0"/>
        </a:spcBef>
        <a:spcAft>
          <a:spcPct val="0"/>
        </a:spcAft>
        <a:defRPr sz="1899">
          <a:solidFill>
            <a:schemeClr val="tx1"/>
          </a:solidFill>
          <a:latin typeface="+mn-lt"/>
          <a:ea typeface="华文细黑" pitchFamily="2" charset="-122"/>
        </a:defRPr>
      </a:lvl9pPr>
    </p:bodyStyle>
    <p:otherStyle>
      <a:defPPr>
        <a:defRPr lang="zh-CN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169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4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235" y="5239240"/>
            <a:ext cx="1874868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03" y="1474840"/>
            <a:ext cx="3982676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6241" y="2343267"/>
            <a:ext cx="3223909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4557" y="1654431"/>
            <a:ext cx="348047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3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34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0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35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9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481" y="5972665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 xml:space="preserve"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 xml:space="preserve"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63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Relationship Id="rId301" Type="http://schemas.openxmlformats.org/officeDocument/2006/relationships/image" Target="../media/image17.png"/><Relationship Id="rId302" Type="http://schemas.openxmlformats.org/officeDocument/2006/relationships/image" Target="../media/image18.png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6FF0C-C771-4AAD-AF9B-B5ECFA106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 xml:space="preserve"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7209C-5C0F-4DDD-A902-7E6FCEC2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8" y="48245"/>
            <a:ext cx="9512050" cy="400110"/>
          </a:xfrm>
        </p:spPr>
        <p:txBody>
          <a:bodyPr/>
          <a:lstStyle/>
          <a:p>
            <a:pPr defTabSz="913303"/>
            <a:r>
              <a:rPr lang="en-US" altLang="zh-CN" sz="1600" b="1" kern="1200">
                <a:latin typeface="Microsoft YaHei" panose="020B0503020204020204" pitchFamily="34" charset="-122"/>
                <a:ea typeface="Microsoft YaHei" panose="020B0503020204020204" pitchFamily="34" charset="-122"/>
              </a:rPr>
              <a:t xml:space="preserve">GTC 2026 </a:t>
            </a:r>
            <a:r>
              <a:rPr lang="zh-CN" altLang="en-US" sz="1600" b="1" kern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Agent架构范式 + 推理服务系统三阶段演进</a:t>
            </a:r>
            <a:r>
              <a:rPr lang="en-US" altLang="zh-CN" sz="1600" b="1" kern="1200">
                <a:latin typeface="Microsoft YaHei" panose="020B0503020204020204" pitchFamily="34" charset="-122"/>
                <a:ea typeface="Microsoft YaHei" panose="020B0503020204020204" pitchFamily="34" charset="-122"/>
              </a:rPr>
              <a:t xml:space="preserve"> </a:t>
            </a:r>
            <a:r>
              <a:rPr lang="zh-CN" altLang="en-US" sz="1600" b="1" kern="1200">
                <a:latin typeface="Microsoft YaHei" panose="020B0503020204020204" pitchFamily="34" charset="-122"/>
                <a:ea typeface="Microsoft YaHei" panose="020B0503020204020204" pitchFamily="34" charset="-122"/>
              </a:rPr>
              <a:t xml:space="preserve"> </a:t>
            </a:r>
            <a:endParaRPr lang="zh-CN" altLang="en-US" sz="1600" b="1" kern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0A89CF59-C83F-432C-AEBC-3F1DE5128DD3}"/>
              </a:ext>
            </a:extLst>
          </p:cNvPr>
          <p:cNvSpPr txBox="1"/>
          <p:nvPr/>
        </p:nvSpPr>
        <p:spPr>
          <a:xfrm>
            <a:off x="4398879" y="6643832"/>
            <a:ext cx="8023520" cy="24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8013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defTabSz="80104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kumimoji="1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源：S82430, Cursor/Aman Sanger, Nemotron, Nebius S82234</a:t>
            </a:r>
            <a:endParaRPr kumimoji="1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9" name="表格 15">
            <a:extLst>
              <a:ext uri="{FF2B5EF4-FFF2-40B4-BE49-F238E27FC236}">
                <a16:creationId xmlns:a16="http://schemas.microsoft.com/office/drawing/2014/main" id="{918A303E-DA52-4484-AC94-1B682C956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80039"/>
              </p:ext>
            </p:extLst>
          </p:nvPr>
        </p:nvGraphicFramePr>
        <p:xfrm>
          <a:off x="296191" y="5100000"/>
          <a:ext cx="11627295" cy="1600000"/>
        </p:xfrm>
        <a:graphic>
          <a:graphicData uri="http://schemas.openxmlformats.org/drawingml/2006/table">
            <a:tbl>
              <a:tblPr firstRow="1" bandRow="1"/>
              <a:tblGrid>
                <a:gridCol w="64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8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000">
                <a:tc>
                  <a:txBody>
                    <a:bodyPr/>
                    <a:lstStyle>
                      <a:lvl1pPr marL="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1pPr>
                      <a:lvl2pPr marL="593488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2pPr>
                      <a:lvl3pPr marL="118761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3pPr>
                      <a:lvl4pPr marL="1781097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4pPr>
                      <a:lvl5pPr marL="2374585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5pPr>
                      <a:lvl6pPr marL="296807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6pPr>
                      <a:lvl7pPr marL="3562194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7pPr>
                      <a:lvl8pPr marL="415568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8pPr>
                      <a:lvl9pPr marL="474917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800" b="1" kern="1200" noProof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启示</a:t>
                      </a:r>
                      <a:endParaRPr lang="en-US" altLang="zh-CN" sz="1800" b="1" kern="1200" noProof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1332" marR="91332" marT="45666" marB="45666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>
                      <a:lvl1pPr marL="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1pPr>
                      <a:lvl2pPr marL="593488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2pPr>
                      <a:lvl3pPr marL="118761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3pPr>
                      <a:lvl4pPr marL="1781097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4pPr>
                      <a:lvl5pPr marL="2374585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5pPr>
                      <a:lvl6pPr marL="296807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6pPr>
                      <a:lvl7pPr marL="3562194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7pPr>
                      <a:lvl8pPr marL="4155682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8pPr>
                      <a:lvl9pPr marL="4749170" algn="l" defTabSz="1187610" rtl="0" eaLnBrk="1" latinLnBrk="0" hangingPunct="1">
                        <a:defRPr sz="2339" kern="1200">
                          <a:solidFill>
                            <a:schemeClr val="tx1"/>
                          </a:solidFill>
                          <a:latin typeface="等线"/>
                          <a:ea typeface="微软雅黑"/>
                        </a:defRPr>
                      </a:lvl9pPr>
                    </a:lstStyle>
                    <a:p>
                      <a:pPr marL="285522" marR="0" lvl="0" indent="-285522" defTabSz="913381" eaLnBrk="1" fontAlgn="auto" latinLnBrk="0" hangingPunct="1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1100" b="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Agent架构从单一无限Agent演进至层级式，瓶颈从能力转向治理</a:t>
                      </a:r>
                    </a:p>
                    <a:p>
                      <a:pPr marL="285522" marR="0" lvl="0" indent="-285522" defTabSz="913381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zh-CN" altLang="en-US" sz="1000" b="1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推理服务：</a:t>
                      </a:r>
                      <a:r>
                        <a:rPr kumimoji="0" lang="zh-CN" altLang="en-US" sz="100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从单节点→多节点分离→Agent编排三阶段</a:t>
                      </a:r>
                    </a:p>
                    <a:p>
                      <a:pPr marL="285522" indent="-285522">
                        <a:spcBef>
                          <a:spcPts val="1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b="1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KV复用：</a:t>
                      </a:r>
                      <a:r>
                        <a:rPr lang="zh-CN" altLang="en-US" sz="100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5%→50%命中率=GPU成本倍数级降低</a:t>
                      </a:r>
                    </a:p>
                    <a:p>
                      <a:pPr marL="285522" indent="-285522">
                        <a:spcBef>
                          <a:spcPts val="1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b="1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核心判断：</a:t>
                      </a:r>
                      <a:r>
                        <a:rPr lang="zh-CN" altLang="en-US" sz="100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Agent-Native是唯一可scale的方式</a:t>
                      </a:r>
                    </a:p>
                    <a:p>
                      <a:pPr marL="285522" indent="-285522">
                        <a:spcBef>
                          <a:spcPts val="1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b="1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治理瓶颈：</a:t>
                      </a:r>
                      <a:r>
                        <a:rPr lang="zh-CN" altLang="en-US" sz="100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always-on无人超6月，需Agent中间件</a:t>
                      </a:r>
                    </a:p>
                    <a:p>
                      <a:pPr marL="285522" indent="-285522">
                        <a:spcBef>
                          <a:spcPts val="1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000" b="1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架构：</a:t>
                      </a:r>
                      <a:r>
                        <a:rPr lang="zh-CN" altLang="en-US" sz="1000" kern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层级式(planner→sub-planners→workers)</a:t>
                      </a:r>
                      <a:endParaRPr kumimoji="0" lang="zh-CN" altLang="en-US" sz="1100" kern="0" dirty="0">
                        <a:solidFill>
                          <a:srgbClr val="1D1D1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332" marR="91332" marT="45666" marB="45666" anchor="ctr">
                    <a:lnL w="12700" cmpd="sng">
                      <a:noFill/>
                    </a:lnL>
                    <a:lnR w="762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组合 90">
            <a:extLst>
              <a:ext uri="{FF2B5EF4-FFF2-40B4-BE49-F238E27FC236}">
                <a16:creationId xmlns:a16="http://schemas.microsoft.com/office/drawing/2014/main" id="{642AD4DD-EA2D-481C-919F-1FF0BA4F98F7}"/>
              </a:ext>
            </a:extLst>
          </p:cNvPr>
          <p:cNvGrpSpPr/>
          <p:nvPr/>
        </p:nvGrpSpPr>
        <p:grpSpPr>
          <a:xfrm>
            <a:off x="6144943" y="920544"/>
            <a:ext cx="5724535" cy="3900000"/>
            <a:chOff x="538933" y="1209374"/>
            <a:chExt cx="8796718" cy="2320907"/>
          </a:xfrm>
        </p:grpSpPr>
        <p:sp>
          <p:nvSpPr>
            <p:cNvPr id="73" name="矩形 91">
              <a:extLst>
                <a:ext uri="{FF2B5EF4-FFF2-40B4-BE49-F238E27FC236}">
                  <a16:creationId xmlns:a16="http://schemas.microsoft.com/office/drawing/2014/main" id="{1E281509-1FEC-4450-A987-67424925C888}"/>
                </a:ext>
              </a:extLst>
            </p:cNvPr>
            <p:cNvSpPr/>
            <p:nvPr/>
          </p:nvSpPr>
          <p:spPr>
            <a:xfrm>
              <a:off x="538933" y="1211228"/>
              <a:ext cx="8788545" cy="2319053"/>
            </a:xfrm>
            <a:prstGeom prst="rect">
              <a:avLst/>
            </a:prstGeom>
            <a:noFill/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  <a:noAutofit/>
            </a:bodyPr>
            <a:lstStyle/>
            <a:p>
              <a:pPr algn="ctr" defTabSz="913472">
                <a:defRPr/>
              </a:pPr>
              <a:endParaRPr lang="zh-CN" altLang="en-US" sz="1797" kern="0">
                <a:solidFill>
                  <a:srgbClr val="666666"/>
                </a:solidFill>
                <a:latin typeface="Calibri" panose="020F0502020204030204"/>
                <a:ea typeface="黑体" panose="02010609060101010101" pitchFamily="49" charset="-122"/>
              </a:endParaRPr>
            </a:p>
          </p:txBody>
        </p:sp>
        <p:cxnSp>
          <p:nvCxnSpPr>
            <p:cNvPr id="74" name="直接连接符 92">
              <a:extLst>
                <a:ext uri="{FF2B5EF4-FFF2-40B4-BE49-F238E27FC236}">
                  <a16:creationId xmlns:a16="http://schemas.microsoft.com/office/drawing/2014/main" id="{56152DBA-9902-4455-B0B5-A95B38430893}"/>
                </a:ext>
              </a:extLst>
            </p:cNvPr>
            <p:cNvCxnSpPr/>
            <p:nvPr/>
          </p:nvCxnSpPr>
          <p:spPr>
            <a:xfrm>
              <a:off x="538933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5" name="直接连接符 93">
              <a:extLst>
                <a:ext uri="{FF2B5EF4-FFF2-40B4-BE49-F238E27FC236}">
                  <a16:creationId xmlns:a16="http://schemas.microsoft.com/office/drawing/2014/main" id="{39A056DA-02E1-45DC-943B-279186A4C5D9}"/>
                </a:ext>
              </a:extLst>
            </p:cNvPr>
            <p:cNvCxnSpPr/>
            <p:nvPr/>
          </p:nvCxnSpPr>
          <p:spPr>
            <a:xfrm>
              <a:off x="538933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6" name="直接连接符 94">
              <a:extLst>
                <a:ext uri="{FF2B5EF4-FFF2-40B4-BE49-F238E27FC236}">
                  <a16:creationId xmlns:a16="http://schemas.microsoft.com/office/drawing/2014/main" id="{6C5584C6-A90C-4DC3-AE0A-5A68F6BC8A27}"/>
                </a:ext>
              </a:extLst>
            </p:cNvPr>
            <p:cNvCxnSpPr/>
            <p:nvPr/>
          </p:nvCxnSpPr>
          <p:spPr>
            <a:xfrm>
              <a:off x="8967478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7" name="直接连接符 95">
              <a:extLst>
                <a:ext uri="{FF2B5EF4-FFF2-40B4-BE49-F238E27FC236}">
                  <a16:creationId xmlns:a16="http://schemas.microsoft.com/office/drawing/2014/main" id="{76D7EF9F-1B99-4C28-AF35-94736FDBDF84}"/>
                </a:ext>
              </a:extLst>
            </p:cNvPr>
            <p:cNvCxnSpPr/>
            <p:nvPr/>
          </p:nvCxnSpPr>
          <p:spPr>
            <a:xfrm>
              <a:off x="8975651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8" name="直接连接符 96">
              <a:extLst>
                <a:ext uri="{FF2B5EF4-FFF2-40B4-BE49-F238E27FC236}">
                  <a16:creationId xmlns:a16="http://schemas.microsoft.com/office/drawing/2014/main" id="{FA406322-2AD2-479D-814C-7873D678CA40}"/>
                </a:ext>
              </a:extLst>
            </p:cNvPr>
            <p:cNvCxnSpPr/>
            <p:nvPr/>
          </p:nvCxnSpPr>
          <p:spPr>
            <a:xfrm flipH="1">
              <a:off x="9326736" y="12093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9" name="直接连接符 97">
              <a:extLst>
                <a:ext uri="{FF2B5EF4-FFF2-40B4-BE49-F238E27FC236}">
                  <a16:creationId xmlns:a16="http://schemas.microsoft.com/office/drawing/2014/main" id="{F2BD3F44-5FC2-425C-AB6F-66FBBFEE612F}"/>
                </a:ext>
              </a:extLst>
            </p:cNvPr>
            <p:cNvCxnSpPr/>
            <p:nvPr/>
          </p:nvCxnSpPr>
          <p:spPr>
            <a:xfrm flipH="1">
              <a:off x="9326735" y="31665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0" name="直接连接符 98">
              <a:extLst>
                <a:ext uri="{FF2B5EF4-FFF2-40B4-BE49-F238E27FC236}">
                  <a16:creationId xmlns:a16="http://schemas.microsoft.com/office/drawing/2014/main" id="{A8C73B3D-A0BA-4311-A788-01990C5368B1}"/>
                </a:ext>
              </a:extLst>
            </p:cNvPr>
            <p:cNvCxnSpPr/>
            <p:nvPr/>
          </p:nvCxnSpPr>
          <p:spPr>
            <a:xfrm flipH="1">
              <a:off x="540668" y="1209374"/>
              <a:ext cx="1234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1" name="直接连接符 99">
              <a:extLst>
                <a:ext uri="{FF2B5EF4-FFF2-40B4-BE49-F238E27FC236}">
                  <a16:creationId xmlns:a16="http://schemas.microsoft.com/office/drawing/2014/main" id="{E40F0575-DD0A-4F5B-BEEF-A7D02ACCB6AA}"/>
                </a:ext>
              </a:extLst>
            </p:cNvPr>
            <p:cNvCxnSpPr/>
            <p:nvPr/>
          </p:nvCxnSpPr>
          <p:spPr>
            <a:xfrm flipH="1">
              <a:off x="541900" y="3166506"/>
              <a:ext cx="2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2" name="文本框 37">
            <a:extLst>
              <a:ext uri="{FF2B5EF4-FFF2-40B4-BE49-F238E27FC236}">
                <a16:creationId xmlns:a16="http://schemas.microsoft.com/office/drawing/2014/main" id="{5D3ED9C7-4CA0-4D9B-AB57-774B2E6BFA99}"/>
              </a:ext>
            </a:extLst>
          </p:cNvPr>
          <p:cNvSpPr txBox="1"/>
          <p:nvPr/>
        </p:nvSpPr>
        <p:spPr>
          <a:xfrm>
            <a:off x="7066101" y="726407"/>
            <a:ext cx="3076981" cy="4001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914034"/>
            <a:r>
              <a:rPr lang="en-CA" altLang="zh-CN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推理服务系统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CBC5A75E-2320-49FE-BEE6-7FD73D6112C3}"/>
              </a:ext>
            </a:extLst>
          </p:cNvPr>
          <p:cNvSpPr/>
          <p:nvPr/>
        </p:nvSpPr>
        <p:spPr>
          <a:xfrm>
            <a:off x="10786278" y="6117"/>
            <a:ext cx="688572" cy="179912"/>
          </a:xfrm>
          <a:prstGeom prst="chevron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动态</a:t>
            </a:r>
            <a:endParaRPr kumimoji="0" lang="en-CA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9B0D60F5-48AA-4E3D-A20A-76134A514A41}"/>
              </a:ext>
            </a:extLst>
          </p:cNvPr>
          <p:cNvSpPr/>
          <p:nvPr/>
        </p:nvSpPr>
        <p:spPr>
          <a:xfrm>
            <a:off x="11396802" y="4616"/>
            <a:ext cx="795198" cy="174612"/>
          </a:xfrm>
          <a:prstGeom prst="chevron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/>
                <a:cs typeface="+mn-cs"/>
              </a:rPr>
              <a:t>论文</a:t>
            </a:r>
            <a:endParaRPr kumimoji="0" lang="en-CA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/>
              <a:cs typeface="+mn-cs"/>
            </a:endParaRPr>
          </a:p>
        </p:txBody>
      </p: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D73EA7EB-75D8-4142-BE10-4CBE811A73E3}"/>
              </a:ext>
            </a:extLst>
          </p:cNvPr>
          <p:cNvSpPr/>
          <p:nvPr/>
        </p:nvSpPr>
        <p:spPr>
          <a:xfrm>
            <a:off x="10191313" y="0"/>
            <a:ext cx="688572" cy="179912"/>
          </a:xfrm>
          <a:prstGeom prst="chevron">
            <a:avLst/>
          </a:prstGeom>
          <a:solidFill>
            <a:srgbClr val="C00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专题</a:t>
            </a:r>
            <a:endParaRPr kumimoji="0" lang="en-CA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D9A44A-5C90-4CBD-B979-6384F2EAAB69}"/>
              </a:ext>
            </a:extLst>
          </p:cNvPr>
          <p:cNvSpPr/>
          <p:nvPr/>
        </p:nvSpPr>
        <p:spPr>
          <a:xfrm>
            <a:off x="297354" y="1002140"/>
            <a:ext cx="5050972" cy="38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buNone/>
            </a:pPr>
            <a:r>
              <a:rPr lang="zh-CN" altLang="en-US" sz="1100" b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通用Agent四层架构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Model层：推理能力核心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Runtime层：沙箱+策略引擎(eBPF L3-L7审计)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Harness层：模型无关编排，虚拟文件系统，跨线程状态持久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Agent层：任务分解与执行</a:t>
            </a:r>
          </a:p>
          <a:p>
            <a:pPr>
              <a:lnSpc>
                <a:spcPct val="130000"/>
              </a:lnSpc>
              <a:spcBef>
                <a:spcPts val="400"/>
              </a:spcBef>
              <a:buNone/>
            </a:pPr>
            <a:r>
              <a:rPr lang="zh-CN" altLang="en-US" sz="1100" b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架构核心演进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单一无限Agent → 层级式(Cursor验证：planner→sub-planners→workers)；人的角色收敛至问题定义/spec/taste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成熟度由模型可靠性驱动，非架构创新(Nemotron 3 Super已接近frontier)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瓶颈从能力→治理：always-on无人超6月；安全/记忆/恢复均未解决 → 需“Agent中间件”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Agent记忆可系统化解决(非纯模型问题)；ToB从高容错场景切入 (Jeff Fu/Qwen)</a:t>
            </a:r>
          </a:p>
        </p:txBody>
      </p:sp>
      <p:grpSp>
        <p:nvGrpSpPr>
          <p:cNvPr id="86" name="组合 90">
            <a:extLst>
              <a:ext uri="{FF2B5EF4-FFF2-40B4-BE49-F238E27FC236}">
                <a16:creationId xmlns:a16="http://schemas.microsoft.com/office/drawing/2014/main" id="{0F70A3BA-D3A7-43AA-81D8-D176E33EC9C8}"/>
              </a:ext>
            </a:extLst>
          </p:cNvPr>
          <p:cNvGrpSpPr/>
          <p:nvPr/>
        </p:nvGrpSpPr>
        <p:grpSpPr>
          <a:xfrm>
            <a:off x="269860" y="931989"/>
            <a:ext cx="5593327" cy="3900000"/>
            <a:chOff x="538933" y="1209374"/>
            <a:chExt cx="8796718" cy="2320907"/>
          </a:xfrm>
        </p:grpSpPr>
        <p:sp>
          <p:nvSpPr>
            <p:cNvPr id="87" name="矩形 91">
              <a:extLst>
                <a:ext uri="{FF2B5EF4-FFF2-40B4-BE49-F238E27FC236}">
                  <a16:creationId xmlns:a16="http://schemas.microsoft.com/office/drawing/2014/main" id="{7AC11E7E-D12F-46B5-A0CA-61D10D7579B3}"/>
                </a:ext>
              </a:extLst>
            </p:cNvPr>
            <p:cNvSpPr/>
            <p:nvPr/>
          </p:nvSpPr>
          <p:spPr>
            <a:xfrm>
              <a:off x="538933" y="1211228"/>
              <a:ext cx="8788545" cy="2319053"/>
            </a:xfrm>
            <a:prstGeom prst="rect">
              <a:avLst/>
            </a:prstGeom>
            <a:noFill/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  <a:noAutofit/>
            </a:bodyPr>
            <a:lstStyle/>
            <a:p>
              <a:pPr algn="ctr" defTabSz="913472">
                <a:defRPr/>
              </a:pPr>
              <a:endParaRPr lang="zh-CN" altLang="en-US" sz="1797" kern="0">
                <a:solidFill>
                  <a:srgbClr val="666666"/>
                </a:solidFill>
                <a:latin typeface="Calibri" panose="020F0502020204030204"/>
                <a:ea typeface="黑体" panose="02010609060101010101" pitchFamily="49" charset="-122"/>
              </a:endParaRPr>
            </a:p>
          </p:txBody>
        </p:sp>
        <p:cxnSp>
          <p:nvCxnSpPr>
            <p:cNvPr id="88" name="直接连接符 92">
              <a:extLst>
                <a:ext uri="{FF2B5EF4-FFF2-40B4-BE49-F238E27FC236}">
                  <a16:creationId xmlns:a16="http://schemas.microsoft.com/office/drawing/2014/main" id="{39175185-4D81-4648-9D10-07C7B2E60CBC}"/>
                </a:ext>
              </a:extLst>
            </p:cNvPr>
            <p:cNvCxnSpPr/>
            <p:nvPr/>
          </p:nvCxnSpPr>
          <p:spPr>
            <a:xfrm>
              <a:off x="538933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9" name="直接连接符 93">
              <a:extLst>
                <a:ext uri="{FF2B5EF4-FFF2-40B4-BE49-F238E27FC236}">
                  <a16:creationId xmlns:a16="http://schemas.microsoft.com/office/drawing/2014/main" id="{92C0A293-0900-48B3-B210-94E095B3CD71}"/>
                </a:ext>
              </a:extLst>
            </p:cNvPr>
            <p:cNvCxnSpPr/>
            <p:nvPr/>
          </p:nvCxnSpPr>
          <p:spPr>
            <a:xfrm>
              <a:off x="538933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0" name="直接连接符 94">
              <a:extLst>
                <a:ext uri="{FF2B5EF4-FFF2-40B4-BE49-F238E27FC236}">
                  <a16:creationId xmlns:a16="http://schemas.microsoft.com/office/drawing/2014/main" id="{E0895FBE-C908-45C6-ABDA-595F1E4C8E18}"/>
                </a:ext>
              </a:extLst>
            </p:cNvPr>
            <p:cNvCxnSpPr/>
            <p:nvPr/>
          </p:nvCxnSpPr>
          <p:spPr>
            <a:xfrm>
              <a:off x="8967478" y="3528427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1" name="直接连接符 95">
              <a:extLst>
                <a:ext uri="{FF2B5EF4-FFF2-40B4-BE49-F238E27FC236}">
                  <a16:creationId xmlns:a16="http://schemas.microsoft.com/office/drawing/2014/main" id="{D53E06F9-0311-4739-94F2-DC9F50A09B14}"/>
                </a:ext>
              </a:extLst>
            </p:cNvPr>
            <p:cNvCxnSpPr/>
            <p:nvPr/>
          </p:nvCxnSpPr>
          <p:spPr>
            <a:xfrm>
              <a:off x="8975651" y="1211228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2" name="直接连接符 96">
              <a:extLst>
                <a:ext uri="{FF2B5EF4-FFF2-40B4-BE49-F238E27FC236}">
                  <a16:creationId xmlns:a16="http://schemas.microsoft.com/office/drawing/2014/main" id="{3830BA73-9515-46E2-A55F-1B91D87A3C42}"/>
                </a:ext>
              </a:extLst>
            </p:cNvPr>
            <p:cNvCxnSpPr/>
            <p:nvPr/>
          </p:nvCxnSpPr>
          <p:spPr>
            <a:xfrm flipH="1">
              <a:off x="9326736" y="12093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3" name="直接连接符 97">
              <a:extLst>
                <a:ext uri="{FF2B5EF4-FFF2-40B4-BE49-F238E27FC236}">
                  <a16:creationId xmlns:a16="http://schemas.microsoft.com/office/drawing/2014/main" id="{B1DD77C1-8C9A-42AD-A743-E42C6FD900CD}"/>
                </a:ext>
              </a:extLst>
            </p:cNvPr>
            <p:cNvCxnSpPr/>
            <p:nvPr/>
          </p:nvCxnSpPr>
          <p:spPr>
            <a:xfrm flipH="1">
              <a:off x="9326735" y="3166574"/>
              <a:ext cx="1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4" name="直接连接符 98">
              <a:extLst>
                <a:ext uri="{FF2B5EF4-FFF2-40B4-BE49-F238E27FC236}">
                  <a16:creationId xmlns:a16="http://schemas.microsoft.com/office/drawing/2014/main" id="{CFCF3DD4-3B89-4715-A34C-82940B6B1CF2}"/>
                </a:ext>
              </a:extLst>
            </p:cNvPr>
            <p:cNvCxnSpPr/>
            <p:nvPr/>
          </p:nvCxnSpPr>
          <p:spPr>
            <a:xfrm flipH="1">
              <a:off x="540668" y="1209374"/>
              <a:ext cx="1234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5" name="直接连接符 99">
              <a:extLst>
                <a:ext uri="{FF2B5EF4-FFF2-40B4-BE49-F238E27FC236}">
                  <a16:creationId xmlns:a16="http://schemas.microsoft.com/office/drawing/2014/main" id="{792EA0C3-1DB1-4198-9460-017E1707AD21}"/>
                </a:ext>
              </a:extLst>
            </p:cNvPr>
            <p:cNvCxnSpPr/>
            <p:nvPr/>
          </p:nvCxnSpPr>
          <p:spPr>
            <a:xfrm flipH="1">
              <a:off x="541900" y="3166506"/>
              <a:ext cx="2" cy="360000"/>
            </a:xfrm>
            <a:prstGeom prst="line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96" name="文本框 37">
            <a:extLst>
              <a:ext uri="{FF2B5EF4-FFF2-40B4-BE49-F238E27FC236}">
                <a16:creationId xmlns:a16="http://schemas.microsoft.com/office/drawing/2014/main" id="{EEA931D5-0B6E-458F-923B-94425A647470}"/>
              </a:ext>
            </a:extLst>
          </p:cNvPr>
          <p:cNvSpPr txBox="1"/>
          <p:nvPr/>
        </p:nvSpPr>
        <p:spPr>
          <a:xfrm>
            <a:off x="1407497" y="747887"/>
            <a:ext cx="3076981" cy="4001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914034"/>
            <a:r>
              <a:rPr lang="en-CA" altLang="zh-CN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Agent架构演进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32">
            <a:extLst>
              <a:ext uri="{FF2B5EF4-FFF2-40B4-BE49-F238E27FC236}">
                <a16:creationId xmlns:a16="http://schemas.microsoft.com/office/drawing/2014/main" id="{2604EE25-BC52-4842-A088-D30339186215}"/>
              </a:ext>
            </a:extLst>
          </p:cNvPr>
          <p:cNvSpPr txBox="1"/>
          <p:nvPr/>
        </p:nvSpPr>
        <p:spPr>
          <a:xfrm>
            <a:off x="256449" y="6611779"/>
            <a:ext cx="25153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贡献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人：</a:t>
            </a:r>
            <a:r>
              <a:rPr kumimoji="0" lang="en-CA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Eason Zhao</a:t>
            </a:r>
            <a:endParaRPr kumimoji="0" lang="en-CA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A6AF4B-AC89-4F48-866A-50911B43B08D}"/>
              </a:ext>
            </a:extLst>
          </p:cNvPr>
          <p:cNvSpPr txBox="1"/>
          <p:nvPr/>
        </p:nvSpPr>
        <p:spPr>
          <a:xfrm>
            <a:off x="9018434" y="369935"/>
            <a:ext cx="31735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/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S82430 / Cursor / Nemotron</a:t>
            </a:r>
            <a:endParaRPr lang="en-US" altLang="zh-CN"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RightContent"/>
          <p:cNvSpPr txBox="1"/>
          <p:nvPr/>
        </p:nvSpPr>
        <p:spPr>
          <a:xfrm>
            <a:off x="6250000" y="1100000"/>
            <a:ext cx="5500000" cy="3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buNone/>
            </a:pPr>
            <a:r>
              <a:rPr lang="zh-CN" altLang="en-US" sz="1100" b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推理服务三阶段演进 (OpenAI Sachin Katti S82430)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Stage 1 单节点：Tokenizer/Runtime/GPU共享，KV in HBM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Stage 2 多节点分离：Prefill/Decode池化，KV跨节点传输，CPU/存储spill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Stage 3 Agent编排：会话管理、模型路由、策略/重试/人审、任务可观测</a:t>
            </a:r>
          </a:p>
          <a:p>
            <a:pPr>
              <a:lnSpc>
                <a:spcPct val="130000"/>
              </a:lnSpc>
              <a:spcBef>
                <a:spcPts val="400"/>
              </a:spcBef>
              <a:buNone/>
            </a:pPr>
            <a:r>
              <a:rPr lang="zh-CN" altLang="en-US" sz="1100" b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五大系统要求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长上下文经济性：KV复用5%→50% = GPU成本倍数级降低 (Nebius S82234)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单轮延迟最小化：多轮串行，P95/P99关键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工具挂起/恢复：“近乎瞬时”VM状态持久化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尾延迟控制：最慢tool call决定任务完成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5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并发与QoS：子Agent树，任务级SLA</a:t>
            </a:r>
          </a:p>
          <a:p>
            <a:pPr>
              <a:lnSpc>
                <a:spcPct val="130000"/>
              </a:lnSpc>
              <a:spcBef>
                <a:spcPts val="400"/>
              </a:spcBef>
              <a:buNone/>
            </a:pPr>
            <a:r>
              <a:rPr lang="zh-CN" altLang="en-US" sz="1000" b="1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Sachin核心判断</a:t>
            </a:r>
          </a:p>
          <a:p>
            <a:pPr marL="228600" indent="-228600">
              <a:lnSpc>
                <a:spcPct val="13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“像15年前DSP编程” — Agent-Native是唯一可scale的方式；核心抽象=分布式队列平衡(零队列、零空闲)</a:t>
            </a: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6300000" y="3500000"/>
            <a:ext cx="5500000" cy="1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787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E0E0">
            <a:alpha val="90000"/>
          </a:srgb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5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6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MS PGothic" pitchFamily="34" charset="-128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9.xml><?xml version="1.0" encoding="utf-8"?>
<a:theme xmlns:a="http://schemas.openxmlformats.org/drawingml/2006/main" name="2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0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11.xml><?xml version="1.0" encoding="utf-8"?>
<a:theme xmlns:a="http://schemas.openxmlformats.org/drawingml/2006/main" name="3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2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13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14207</TotalTime>
  <Words>1304</Words>
  <Application>Microsoft Office PowerPoint</Application>
  <PresentationFormat>Widescreen</PresentationFormat>
  <Paragraphs>121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.AppleSystemUIFont</vt:lpstr>
      <vt:lpstr>Microsoft YaHei</vt:lpstr>
      <vt:lpstr>Microsoft YaHei</vt:lpstr>
      <vt:lpstr>Arial</vt:lpstr>
      <vt:lpstr>Calibri</vt:lpstr>
      <vt:lpstr>Wingdings</vt:lpstr>
      <vt:lpstr>Chapter page</vt:lpstr>
      <vt:lpstr>1_封面页_图片版 </vt:lpstr>
      <vt:lpstr>2_章节页</vt:lpstr>
      <vt:lpstr>1_章节页</vt:lpstr>
      <vt:lpstr>16_章节页</vt:lpstr>
      <vt:lpstr>6_Chart page</vt:lpstr>
      <vt:lpstr>4_自定义设计方案</vt:lpstr>
      <vt:lpstr>1_Chapter page</vt:lpstr>
      <vt:lpstr>2_Chapter page</vt:lpstr>
      <vt:lpstr>End page</vt:lpstr>
      <vt:lpstr>3_Chapter page</vt:lpstr>
      <vt:lpstr>Cover page_Image version</vt:lpstr>
      <vt:lpstr>3_章节页</vt:lpstr>
      <vt:lpstr>PowerPoint Presentation</vt:lpstr>
      <vt:lpstr>加研算力洞察月报（2025年XX月） —专题</vt:lpstr>
      <vt:lpstr>PowerPoint Presentation</vt:lpstr>
      <vt:lpstr>PowerPoint Presentation</vt:lpstr>
      <vt:lpstr>【XX专题，如“训推”“前沿模型”等】--关键信息</vt:lpstr>
      <vt:lpstr>【xx，如GTC 2025】关键信息如xx公司发布了xx技术，xx芯片，模型等</vt:lpstr>
      <vt:lpstr>xx机构做了xx研究，结果如何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yubaifeng</dc:creator>
  <cp:lastModifiedBy>Deqi Yao (Gavin)</cp:lastModifiedBy>
  <cp:revision>227</cp:revision>
  <dcterms:created xsi:type="dcterms:W3CDTF">2025-03-27T17:37:39Z</dcterms:created>
  <dcterms:modified xsi:type="dcterms:W3CDTF">2025-12-01T19:47:04Z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1762968278</vt:lpwstr>
  </property>
</Properties>
</file>