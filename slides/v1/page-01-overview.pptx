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000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GTC 2026 CONFERENCE DEBRIEF</a:t>
            </a:r>
            <a:pPr indent="0" marL="0">
              <a:buNone/>
            </a:pPr>
            <a:r>
              <a:rPr lang="en-US" sz="1200" dirty="0">
                <a:solidFill>
                  <a:srgbClr val="C7000B"/>
                </a:solidFill>
              </a:rPr>
              <a:t>   ——   </a:t>
            </a:r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March 16–19, 2026 · San Jose Convention Center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548640"/>
            <a:ext cx="548640" cy="2286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1264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C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GTC 2026 参会概况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0332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昇腾计算参会团队 · 总览与汇报导航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576320" cy="13716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371600"/>
            <a:ext cx="109728" cy="13716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371600"/>
            <a:ext cx="13716" cy="109728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9" name="Shape 7"/>
          <p:cNvSpPr/>
          <p:nvPr/>
        </p:nvSpPr>
        <p:spPr>
          <a:xfrm>
            <a:off x="4015232" y="2729484"/>
            <a:ext cx="109728" cy="13716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10" name="Shape 8"/>
          <p:cNvSpPr/>
          <p:nvPr/>
        </p:nvSpPr>
        <p:spPr>
          <a:xfrm>
            <a:off x="4111244" y="2633472"/>
            <a:ext cx="13716" cy="109728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508760"/>
            <a:ext cx="155448" cy="155448"/>
          </a:xfrm>
          <a:prstGeom prst="rect">
            <a:avLst>
              <a:gd name="adj" fmla="val 11765"/>
            </a:avLst>
          </a:prstGeom>
          <a:solidFill>
            <a:srgbClr val="C7000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1481328"/>
            <a:ext cx="302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C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大会信息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1783080"/>
            <a:ext cx="330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日期：</a:t>
            </a:r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2026年3月16–19日（4天）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1984248"/>
            <a:ext cx="330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地点：</a:t>
            </a:r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 Jose Convention Center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2185416"/>
            <a:ext cx="330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Keynote：</a:t>
            </a:r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Jensen Huang 主题演讲 3/16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2386584"/>
            <a:ext cx="330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核心发布：</a:t>
            </a:r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Vera Rubin / Dynamo / Nemotron 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07840" y="1371600"/>
            <a:ext cx="3576320" cy="13716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8" name="Shape 16"/>
          <p:cNvSpPr/>
          <p:nvPr/>
        </p:nvSpPr>
        <p:spPr>
          <a:xfrm>
            <a:off x="4307840" y="1371600"/>
            <a:ext cx="109728" cy="13716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19" name="Shape 17"/>
          <p:cNvSpPr/>
          <p:nvPr/>
        </p:nvSpPr>
        <p:spPr>
          <a:xfrm>
            <a:off x="4307840" y="1371600"/>
            <a:ext cx="13716" cy="109728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4432" y="2729484"/>
            <a:ext cx="109728" cy="13716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21" name="Shape 19"/>
          <p:cNvSpPr/>
          <p:nvPr/>
        </p:nvSpPr>
        <p:spPr>
          <a:xfrm>
            <a:off x="7870444" y="2633472"/>
            <a:ext cx="13716" cy="109728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22" name="Shape 20"/>
          <p:cNvSpPr/>
          <p:nvPr/>
        </p:nvSpPr>
        <p:spPr>
          <a:xfrm>
            <a:off x="4445000" y="1508760"/>
            <a:ext cx="155448" cy="155448"/>
          </a:xfrm>
          <a:prstGeom prst="rect">
            <a:avLst>
              <a:gd name="adj" fmla="val 11765"/>
            </a:avLst>
          </a:prstGeom>
          <a:solidFill>
            <a:srgbClr val="C7000B"/>
          </a:solidFill>
          <a:ln/>
        </p:spPr>
      </p:sp>
      <p:sp>
        <p:nvSpPr>
          <p:cNvPr id="23" name="Text 21"/>
          <p:cNvSpPr/>
          <p:nvPr/>
        </p:nvSpPr>
        <p:spPr>
          <a:xfrm>
            <a:off x="4673600" y="1481328"/>
            <a:ext cx="302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C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参会团队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45000" y="17556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C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9+</a:t>
            </a:r>
            <a:pPr indent="0" marL="0">
              <a:buNone/>
            </a:pPr>
            <a:r>
              <a:rPr lang="en-US" sz="1200" b="1" dirty="0">
                <a:solidFill>
                  <a:srgbClr val="1A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位专家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445000" y="2084832"/>
            <a:ext cx="330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郑申 · 张威威 · 刘洋 · 张勇 · 周子瑞 · 熊颖 · 陈伯欣 · Bruce Li · 姚德奇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45000" y="2377440"/>
            <a:ext cx="330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覆盖：</a:t>
            </a:r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Keynote + 技术Session + 1:1面谈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67040" y="1371600"/>
            <a:ext cx="3576320" cy="13716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8" name="Shape 26"/>
          <p:cNvSpPr/>
          <p:nvPr/>
        </p:nvSpPr>
        <p:spPr>
          <a:xfrm>
            <a:off x="8067040" y="1371600"/>
            <a:ext cx="109728" cy="13716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29" name="Shape 27"/>
          <p:cNvSpPr/>
          <p:nvPr/>
        </p:nvSpPr>
        <p:spPr>
          <a:xfrm>
            <a:off x="8067040" y="1371600"/>
            <a:ext cx="13716" cy="109728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533632" y="2729484"/>
            <a:ext cx="109728" cy="13716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31" name="Shape 29"/>
          <p:cNvSpPr/>
          <p:nvPr/>
        </p:nvSpPr>
        <p:spPr>
          <a:xfrm>
            <a:off x="11629644" y="2633472"/>
            <a:ext cx="13716" cy="109728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32" name="Shape 30"/>
          <p:cNvSpPr/>
          <p:nvPr/>
        </p:nvSpPr>
        <p:spPr>
          <a:xfrm>
            <a:off x="8204200" y="1508760"/>
            <a:ext cx="155448" cy="155448"/>
          </a:xfrm>
          <a:prstGeom prst="rect">
            <a:avLst>
              <a:gd name="adj" fmla="val 11765"/>
            </a:avLst>
          </a:prstGeom>
          <a:solidFill>
            <a:srgbClr val="C7000B"/>
          </a:solidFill>
          <a:ln/>
        </p:spPr>
      </p:sp>
      <p:sp>
        <p:nvSpPr>
          <p:cNvPr id="33" name="Text 31"/>
          <p:cNvSpPr/>
          <p:nvPr/>
        </p:nvSpPr>
        <p:spPr>
          <a:xfrm>
            <a:off x="8432800" y="1481328"/>
            <a:ext cx="302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C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信息质量控制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04200" y="1783080"/>
            <a:ext cx="330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机制：</a:t>
            </a:r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每日汇编 + 交叉验证 + 事实核查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04200" y="1984248"/>
            <a:ext cx="330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Day2核查：</a:t>
            </a:r>
            <a:pPr indent="0" marL="0">
              <a:buNone/>
            </a:pPr>
            <a:r>
              <a:rPr lang="en-US" sz="1200" b="1" dirty="0">
                <a:solidFill>
                  <a:srgbClr val="1A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73%</a:t>
            </a:r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准确 · </a:t>
            </a:r>
            <a:pPr indent="0" marL="0">
              <a:buNone/>
            </a:pPr>
            <a:r>
              <a:rPr lang="en-US" sz="1200" b="1" dirty="0">
                <a:solidFill>
                  <a:srgbClr val="1A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27%</a:t>
            </a:r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细节偏差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204200" y="2185416"/>
            <a:ext cx="330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捏造率：</a:t>
            </a:r>
            <a:pPr indent="0" marL="0">
              <a:buNone/>
            </a:pPr>
            <a:r>
              <a:rPr lang="en-US" sz="1200" b="1" dirty="0">
                <a:solidFill>
                  <a:srgbClr val="C700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0%</a:t>
            </a:r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（零编造）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C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覆盖 7 大技术领域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48640" y="3172968"/>
            <a:ext cx="1559052" cy="292608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3172968"/>
            <a:ext cx="15590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模型架构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MoE/线性注意力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199132" y="3172968"/>
            <a:ext cx="1792224" cy="292608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41" name="Text 39"/>
          <p:cNvSpPr/>
          <p:nvPr/>
        </p:nvSpPr>
        <p:spPr>
          <a:xfrm>
            <a:off x="2199132" y="3172968"/>
            <a:ext cx="17922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Agent系统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RL/架构/工作负载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082796" y="3172968"/>
            <a:ext cx="1559052" cy="292608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43" name="Text 41"/>
          <p:cNvSpPr/>
          <p:nvPr/>
        </p:nvSpPr>
        <p:spPr>
          <a:xfrm>
            <a:off x="4082796" y="3172968"/>
            <a:ext cx="15590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低精稀疏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FP4/结构化剪枝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733288" y="3172968"/>
            <a:ext cx="1559052" cy="292608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45" name="Text 43"/>
          <p:cNvSpPr/>
          <p:nvPr/>
        </p:nvSpPr>
        <p:spPr>
          <a:xfrm>
            <a:off x="5733288" y="3172968"/>
            <a:ext cx="15590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具身智能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GR00T/Cosmos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383780" y="3172968"/>
            <a:ext cx="1696212" cy="292608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47" name="Text 45"/>
          <p:cNvSpPr/>
          <p:nvPr/>
        </p:nvSpPr>
        <p:spPr>
          <a:xfrm>
            <a:off x="7383780" y="3172968"/>
            <a:ext cx="16962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推理系统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vLLM V2/Dynamo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171432" y="3172968"/>
            <a:ext cx="1613916" cy="292608"/>
          </a:xfrm>
          <a:prstGeom prst="rect">
            <a:avLst/>
          </a:prstGeom>
          <a:solidFill>
            <a:srgbClr val="1A1C1C"/>
          </a:solidFill>
          <a:ln/>
        </p:spPr>
      </p:sp>
      <p:sp>
        <p:nvSpPr>
          <p:cNvPr id="49" name="Text 47"/>
          <p:cNvSpPr/>
          <p:nvPr/>
        </p:nvSpPr>
        <p:spPr>
          <a:xfrm>
            <a:off x="9171432" y="3172968"/>
            <a:ext cx="1613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NV硬件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Rubin/LPU/Rosa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0876788" y="3172968"/>
            <a:ext cx="1559052" cy="292608"/>
          </a:xfrm>
          <a:prstGeom prst="rect">
            <a:avLst/>
          </a:prstGeom>
          <a:solidFill>
            <a:srgbClr val="1A1C1C"/>
          </a:solidFill>
          <a:ln/>
        </p:spPr>
      </p:sp>
      <p:sp>
        <p:nvSpPr>
          <p:cNvPr id="51" name="Text 49"/>
          <p:cNvSpPr/>
          <p:nvPr/>
        </p:nvSpPr>
        <p:spPr>
          <a:xfrm>
            <a:off x="10876788" y="3172968"/>
            <a:ext cx="15590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企业部署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NemoClaw/DSX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48640" y="3703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C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串讲导航 · 汇报结构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48640" y="4023360"/>
            <a:ext cx="777240" cy="228600"/>
          </a:xfrm>
          <a:prstGeom prst="rect">
            <a:avLst/>
          </a:prstGeom>
          <a:noFill/>
          <a:ln w="12700">
            <a:solidFill>
              <a:srgbClr val="C700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402336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00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你的部分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48640" y="4343400"/>
            <a:ext cx="2377440" cy="64008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56" name="Text 54"/>
          <p:cNvSpPr/>
          <p:nvPr/>
        </p:nvSpPr>
        <p:spPr>
          <a:xfrm>
            <a:off x="548640" y="43891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总串讲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548640" y="469087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概况 / 趋势 / 专家观点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2926080" y="434340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00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3154680" y="4343400"/>
            <a:ext cx="2377440" cy="64008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60" name="Shape 58"/>
          <p:cNvSpPr/>
          <p:nvPr/>
        </p:nvSpPr>
        <p:spPr>
          <a:xfrm>
            <a:off x="3154680" y="4343400"/>
            <a:ext cx="2377440" cy="2286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61" name="Shape 59"/>
          <p:cNvSpPr/>
          <p:nvPr/>
        </p:nvSpPr>
        <p:spPr>
          <a:xfrm>
            <a:off x="3154680" y="4343400"/>
            <a:ext cx="109728" cy="13716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62" name="Shape 60"/>
          <p:cNvSpPr/>
          <p:nvPr/>
        </p:nvSpPr>
        <p:spPr>
          <a:xfrm>
            <a:off x="3154680" y="4343400"/>
            <a:ext cx="13716" cy="109728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63" name="Shape 61"/>
          <p:cNvSpPr/>
          <p:nvPr/>
        </p:nvSpPr>
        <p:spPr>
          <a:xfrm>
            <a:off x="5422392" y="4969764"/>
            <a:ext cx="109728" cy="13716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64" name="Shape 62"/>
          <p:cNvSpPr/>
          <p:nvPr/>
        </p:nvSpPr>
        <p:spPr>
          <a:xfrm>
            <a:off x="5518404" y="4873752"/>
            <a:ext cx="13716" cy="109728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65" name="Text 63"/>
          <p:cNvSpPr/>
          <p:nvPr/>
        </p:nvSpPr>
        <p:spPr>
          <a:xfrm>
            <a:off x="3154680" y="43891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C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模型演进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3154680" y="469087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MoE通信 / 线性注意力 / RLP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5532120" y="434340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00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5760720" y="4343400"/>
            <a:ext cx="2377440" cy="64008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69" name="Shape 67"/>
          <p:cNvSpPr/>
          <p:nvPr/>
        </p:nvSpPr>
        <p:spPr>
          <a:xfrm>
            <a:off x="5760720" y="4343400"/>
            <a:ext cx="2377440" cy="2286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70" name="Shape 68"/>
          <p:cNvSpPr/>
          <p:nvPr/>
        </p:nvSpPr>
        <p:spPr>
          <a:xfrm>
            <a:off x="5760720" y="4343400"/>
            <a:ext cx="109728" cy="13716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71" name="Shape 69"/>
          <p:cNvSpPr/>
          <p:nvPr/>
        </p:nvSpPr>
        <p:spPr>
          <a:xfrm>
            <a:off x="5760720" y="4343400"/>
            <a:ext cx="13716" cy="109728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72" name="Shape 70"/>
          <p:cNvSpPr/>
          <p:nvPr/>
        </p:nvSpPr>
        <p:spPr>
          <a:xfrm>
            <a:off x="8028432" y="4969764"/>
            <a:ext cx="109728" cy="13716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73" name="Shape 71"/>
          <p:cNvSpPr/>
          <p:nvPr/>
        </p:nvSpPr>
        <p:spPr>
          <a:xfrm>
            <a:off x="8124444" y="4873752"/>
            <a:ext cx="13716" cy="109728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74" name="Text 72"/>
          <p:cNvSpPr/>
          <p:nvPr/>
        </p:nvSpPr>
        <p:spPr>
          <a:xfrm>
            <a:off x="5760720" y="43891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C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Agent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5760720" y="469087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架构 / RL扩展 / 工作负载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548640" y="5120640"/>
            <a:ext cx="777240" cy="228600"/>
          </a:xfrm>
          <a:prstGeom prst="rect">
            <a:avLst/>
          </a:prstGeom>
          <a:noFill/>
          <a:ln w="12700">
            <a:solidFill>
              <a:srgbClr val="5E5E5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48640" y="512064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其他专家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548640" y="5422392"/>
            <a:ext cx="1965960" cy="64008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79" name="Shape 77"/>
          <p:cNvSpPr/>
          <p:nvPr/>
        </p:nvSpPr>
        <p:spPr>
          <a:xfrm>
            <a:off x="548640" y="5422392"/>
            <a:ext cx="109728" cy="13716"/>
          </a:xfrm>
          <a:prstGeom prst="rect">
            <a:avLst/>
          </a:prstGeom>
          <a:solidFill>
            <a:srgbClr val="5E5E5E"/>
          </a:solidFill>
          <a:ln/>
        </p:spPr>
      </p:sp>
      <p:sp>
        <p:nvSpPr>
          <p:cNvPr id="80" name="Shape 78"/>
          <p:cNvSpPr/>
          <p:nvPr/>
        </p:nvSpPr>
        <p:spPr>
          <a:xfrm>
            <a:off x="548640" y="5422392"/>
            <a:ext cx="13716" cy="109728"/>
          </a:xfrm>
          <a:prstGeom prst="rect">
            <a:avLst/>
          </a:prstGeom>
          <a:solidFill>
            <a:srgbClr val="5E5E5E"/>
          </a:solidFill>
          <a:ln/>
        </p:spPr>
      </p:sp>
      <p:sp>
        <p:nvSpPr>
          <p:cNvPr id="81" name="Shape 79"/>
          <p:cNvSpPr/>
          <p:nvPr/>
        </p:nvSpPr>
        <p:spPr>
          <a:xfrm>
            <a:off x="2404872" y="6048756"/>
            <a:ext cx="109728" cy="13716"/>
          </a:xfrm>
          <a:prstGeom prst="rect">
            <a:avLst/>
          </a:prstGeom>
          <a:solidFill>
            <a:srgbClr val="5E5E5E"/>
          </a:solidFill>
          <a:ln/>
        </p:spPr>
      </p:sp>
      <p:sp>
        <p:nvSpPr>
          <p:cNvPr id="82" name="Shape 80"/>
          <p:cNvSpPr/>
          <p:nvPr/>
        </p:nvSpPr>
        <p:spPr>
          <a:xfrm>
            <a:off x="2500884" y="5952744"/>
            <a:ext cx="13716" cy="109728"/>
          </a:xfrm>
          <a:prstGeom prst="rect">
            <a:avLst/>
          </a:prstGeom>
          <a:solidFill>
            <a:srgbClr val="5E5E5E"/>
          </a:solidFill>
          <a:ln/>
        </p:spPr>
      </p:sp>
      <p:sp>
        <p:nvSpPr>
          <p:cNvPr id="83" name="Text 81"/>
          <p:cNvSpPr/>
          <p:nvPr/>
        </p:nvSpPr>
        <p:spPr>
          <a:xfrm>
            <a:off x="548640" y="546811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C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低精稀疏</a:t>
            </a:r>
            <a:endParaRPr lang="en-US" sz="1400" dirty="0"/>
          </a:p>
        </p:txBody>
      </p:sp>
      <p:sp>
        <p:nvSpPr>
          <p:cNvPr id="84" name="Text 82"/>
          <p:cNvSpPr/>
          <p:nvPr/>
        </p:nvSpPr>
        <p:spPr>
          <a:xfrm>
            <a:off x="548640" y="5769864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FP4量化 / 结构化稀疏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2514600" y="5422392"/>
            <a:ext cx="2011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E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2715768" y="5422392"/>
            <a:ext cx="1965960" cy="64008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87" name="Shape 85"/>
          <p:cNvSpPr/>
          <p:nvPr/>
        </p:nvSpPr>
        <p:spPr>
          <a:xfrm>
            <a:off x="2715768" y="5422392"/>
            <a:ext cx="109728" cy="13716"/>
          </a:xfrm>
          <a:prstGeom prst="rect">
            <a:avLst/>
          </a:prstGeom>
          <a:solidFill>
            <a:srgbClr val="5E5E5E"/>
          </a:solidFill>
          <a:ln/>
        </p:spPr>
      </p:sp>
      <p:sp>
        <p:nvSpPr>
          <p:cNvPr id="88" name="Shape 86"/>
          <p:cNvSpPr/>
          <p:nvPr/>
        </p:nvSpPr>
        <p:spPr>
          <a:xfrm>
            <a:off x="2715768" y="5422392"/>
            <a:ext cx="13716" cy="109728"/>
          </a:xfrm>
          <a:prstGeom prst="rect">
            <a:avLst/>
          </a:prstGeom>
          <a:solidFill>
            <a:srgbClr val="5E5E5E"/>
          </a:solidFill>
          <a:ln/>
        </p:spPr>
      </p:sp>
      <p:sp>
        <p:nvSpPr>
          <p:cNvPr id="89" name="Shape 87"/>
          <p:cNvSpPr/>
          <p:nvPr/>
        </p:nvSpPr>
        <p:spPr>
          <a:xfrm>
            <a:off x="4572000" y="6048756"/>
            <a:ext cx="109728" cy="13716"/>
          </a:xfrm>
          <a:prstGeom prst="rect">
            <a:avLst/>
          </a:prstGeom>
          <a:solidFill>
            <a:srgbClr val="5E5E5E"/>
          </a:solidFill>
          <a:ln/>
        </p:spPr>
      </p:sp>
      <p:sp>
        <p:nvSpPr>
          <p:cNvPr id="90" name="Shape 88"/>
          <p:cNvSpPr/>
          <p:nvPr/>
        </p:nvSpPr>
        <p:spPr>
          <a:xfrm>
            <a:off x="4668012" y="5952744"/>
            <a:ext cx="13716" cy="109728"/>
          </a:xfrm>
          <a:prstGeom prst="rect">
            <a:avLst/>
          </a:prstGeom>
          <a:solidFill>
            <a:srgbClr val="5E5E5E"/>
          </a:solidFill>
          <a:ln/>
        </p:spPr>
      </p:sp>
      <p:sp>
        <p:nvSpPr>
          <p:cNvPr id="91" name="Text 89"/>
          <p:cNvSpPr/>
          <p:nvPr/>
        </p:nvSpPr>
        <p:spPr>
          <a:xfrm>
            <a:off x="2715768" y="546811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C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具身智能</a:t>
            </a:r>
            <a:endParaRPr lang="en-US" sz="1400" dirty="0"/>
          </a:p>
        </p:txBody>
      </p:sp>
      <p:sp>
        <p:nvSpPr>
          <p:cNvPr id="92" name="Text 90"/>
          <p:cNvSpPr/>
          <p:nvPr/>
        </p:nvSpPr>
        <p:spPr>
          <a:xfrm>
            <a:off x="2715768" y="5769864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GR00T / 仿真 / Cosmos</a:t>
            </a:r>
            <a:endParaRPr lang="en-US" sz="1200" dirty="0"/>
          </a:p>
        </p:txBody>
      </p:sp>
      <p:sp>
        <p:nvSpPr>
          <p:cNvPr id="93" name="Text 91"/>
          <p:cNvSpPr/>
          <p:nvPr/>
        </p:nvSpPr>
        <p:spPr>
          <a:xfrm>
            <a:off x="4681728" y="5422392"/>
            <a:ext cx="2011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E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4882896" y="5422392"/>
            <a:ext cx="1965960" cy="64008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95" name="Shape 93"/>
          <p:cNvSpPr/>
          <p:nvPr/>
        </p:nvSpPr>
        <p:spPr>
          <a:xfrm>
            <a:off x="4882896" y="5422392"/>
            <a:ext cx="109728" cy="13716"/>
          </a:xfrm>
          <a:prstGeom prst="rect">
            <a:avLst/>
          </a:prstGeom>
          <a:solidFill>
            <a:srgbClr val="5E5E5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82896" y="5422392"/>
            <a:ext cx="13716" cy="109728"/>
          </a:xfrm>
          <a:prstGeom prst="rect">
            <a:avLst/>
          </a:prstGeom>
          <a:solidFill>
            <a:srgbClr val="5E5E5E"/>
          </a:solidFill>
          <a:ln/>
        </p:spPr>
      </p:sp>
      <p:sp>
        <p:nvSpPr>
          <p:cNvPr id="97" name="Shape 95"/>
          <p:cNvSpPr/>
          <p:nvPr/>
        </p:nvSpPr>
        <p:spPr>
          <a:xfrm>
            <a:off x="6739128" y="6048756"/>
            <a:ext cx="109728" cy="13716"/>
          </a:xfrm>
          <a:prstGeom prst="rect">
            <a:avLst/>
          </a:prstGeom>
          <a:solidFill>
            <a:srgbClr val="5E5E5E"/>
          </a:solidFill>
          <a:ln/>
        </p:spPr>
      </p:sp>
      <p:sp>
        <p:nvSpPr>
          <p:cNvPr id="98" name="Shape 96"/>
          <p:cNvSpPr/>
          <p:nvPr/>
        </p:nvSpPr>
        <p:spPr>
          <a:xfrm>
            <a:off x="6835140" y="5952744"/>
            <a:ext cx="13716" cy="109728"/>
          </a:xfrm>
          <a:prstGeom prst="rect">
            <a:avLst/>
          </a:prstGeom>
          <a:solidFill>
            <a:srgbClr val="5E5E5E"/>
          </a:solidFill>
          <a:ln/>
        </p:spPr>
      </p:sp>
      <p:sp>
        <p:nvSpPr>
          <p:cNvPr id="99" name="Text 97"/>
          <p:cNvSpPr/>
          <p:nvPr/>
        </p:nvSpPr>
        <p:spPr>
          <a:xfrm>
            <a:off x="4882896" y="546811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C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硬件演进</a:t>
            </a:r>
            <a:endParaRPr lang="en-US" sz="1400" dirty="0"/>
          </a:p>
        </p:txBody>
      </p:sp>
      <p:sp>
        <p:nvSpPr>
          <p:cNvPr id="100" name="Text 98"/>
          <p:cNvSpPr/>
          <p:nvPr/>
        </p:nvSpPr>
        <p:spPr>
          <a:xfrm>
            <a:off x="4882896" y="5769864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Rubin / LPU / Rosa CPU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6848856" y="5422392"/>
            <a:ext cx="2011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</a:t>
            </a:r>
            <a:endParaRPr lang="en-US" sz="1600" dirty="0"/>
          </a:p>
        </p:txBody>
      </p:sp>
      <p:sp>
        <p:nvSpPr>
          <p:cNvPr id="102" name="Shape 100"/>
          <p:cNvSpPr/>
          <p:nvPr/>
        </p:nvSpPr>
        <p:spPr>
          <a:xfrm>
            <a:off x="7050024" y="5422392"/>
            <a:ext cx="1965960" cy="640080"/>
          </a:xfrm>
          <a:prstGeom prst="rect">
            <a:avLst/>
          </a:prstGeom>
          <a:solidFill>
            <a:srgbClr val="1A1C1C"/>
          </a:solidFill>
          <a:ln/>
        </p:spPr>
      </p:sp>
      <p:sp>
        <p:nvSpPr>
          <p:cNvPr id="103" name="Shape 101"/>
          <p:cNvSpPr/>
          <p:nvPr/>
        </p:nvSpPr>
        <p:spPr>
          <a:xfrm>
            <a:off x="7050024" y="5422392"/>
            <a:ext cx="109728" cy="13716"/>
          </a:xfrm>
          <a:prstGeom prst="rect">
            <a:avLst/>
          </a:prstGeom>
          <a:solidFill>
            <a:srgbClr val="1A1C1C"/>
          </a:solidFill>
          <a:ln/>
        </p:spPr>
      </p:sp>
      <p:sp>
        <p:nvSpPr>
          <p:cNvPr id="104" name="Shape 102"/>
          <p:cNvSpPr/>
          <p:nvPr/>
        </p:nvSpPr>
        <p:spPr>
          <a:xfrm>
            <a:off x="7050024" y="5422392"/>
            <a:ext cx="13716" cy="109728"/>
          </a:xfrm>
          <a:prstGeom prst="rect">
            <a:avLst/>
          </a:prstGeom>
          <a:solidFill>
            <a:srgbClr val="1A1C1C"/>
          </a:solidFill>
          <a:ln/>
        </p:spPr>
      </p:sp>
      <p:sp>
        <p:nvSpPr>
          <p:cNvPr id="105" name="Shape 103"/>
          <p:cNvSpPr/>
          <p:nvPr/>
        </p:nvSpPr>
        <p:spPr>
          <a:xfrm>
            <a:off x="8906256" y="6048756"/>
            <a:ext cx="109728" cy="13716"/>
          </a:xfrm>
          <a:prstGeom prst="rect">
            <a:avLst/>
          </a:prstGeom>
          <a:solidFill>
            <a:srgbClr val="1A1C1C"/>
          </a:solidFill>
          <a:ln/>
        </p:spPr>
      </p:sp>
      <p:sp>
        <p:nvSpPr>
          <p:cNvPr id="106" name="Shape 104"/>
          <p:cNvSpPr/>
          <p:nvPr/>
        </p:nvSpPr>
        <p:spPr>
          <a:xfrm>
            <a:off x="9002268" y="5952744"/>
            <a:ext cx="13716" cy="109728"/>
          </a:xfrm>
          <a:prstGeom prst="rect">
            <a:avLst/>
          </a:prstGeom>
          <a:solidFill>
            <a:srgbClr val="1A1C1C"/>
          </a:solidFill>
          <a:ln/>
        </p:spPr>
      </p:sp>
      <p:sp>
        <p:nvSpPr>
          <p:cNvPr id="107" name="Text 105"/>
          <p:cNvSpPr/>
          <p:nvPr/>
        </p:nvSpPr>
        <p:spPr>
          <a:xfrm>
            <a:off x="7050024" y="546811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总结与启示</a:t>
            </a:r>
            <a:endParaRPr lang="en-US" sz="1400" dirty="0"/>
          </a:p>
        </p:txBody>
      </p:sp>
      <p:sp>
        <p:nvSpPr>
          <p:cNvPr id="108" name="Text 106"/>
          <p:cNvSpPr/>
          <p:nvPr/>
        </p:nvSpPr>
        <p:spPr>
          <a:xfrm>
            <a:off x="7050024" y="5769864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关键结论 / 行动建议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0" name="Shape 108"/>
          <p:cNvSpPr/>
          <p:nvPr/>
        </p:nvSpPr>
        <p:spPr>
          <a:xfrm>
            <a:off x="0" y="6400800"/>
            <a:ext cx="320040" cy="45720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111" name="Text 109"/>
          <p:cNvSpPr/>
          <p:nvPr/>
        </p:nvSpPr>
        <p:spPr>
          <a:xfrm>
            <a:off x="0" y="64008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启示</a:t>
            </a:r>
            <a:endParaRPr lang="en-US" sz="1200" dirty="0"/>
          </a:p>
        </p:txBody>
      </p:sp>
      <p:sp>
        <p:nvSpPr>
          <p:cNvPr id="112" name="Text 110"/>
          <p:cNvSpPr/>
          <p:nvPr/>
        </p:nvSpPr>
        <p:spPr>
          <a:xfrm>
            <a:off x="502920" y="64008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9位专家4天密集参会，覆盖7大技术领域40+场Session与1:1面谈，每日汇编+事实核查确保零编造的高可信信息体系</a:t>
            </a:r>
            <a:endParaRPr lang="en-US" sz="1200" dirty="0"/>
          </a:p>
        </p:txBody>
      </p:sp>
      <p:sp>
        <p:nvSpPr>
          <p:cNvPr id="113" name="Text 111"/>
          <p:cNvSpPr/>
          <p:nvPr/>
        </p:nvSpPr>
        <p:spPr>
          <a:xfrm>
            <a:off x="9906000" y="6400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AAAAAA"/>
                </a:solidFill>
              </a:rPr>
              <a:t>INTERNAL   </a:t>
            </a:r>
            <a:pPr algn="r" indent="0" marL="0">
              <a:buNone/>
            </a:pPr>
            <a:r>
              <a:rPr lang="en-US" sz="1400" b="1" dirty="0">
                <a:solidFill>
                  <a:srgbClr val="1A1C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HUAWEI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2026-03-25T20:44:15Z</dcterms:created>
  <dcterms:modified xsi:type="dcterms:W3CDTF">2026-03-25T20:44:15Z</dcterms:modified>
</cp:coreProperties>
</file>